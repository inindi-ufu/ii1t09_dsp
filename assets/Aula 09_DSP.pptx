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2" r:id="rId3"/>
    <p:sldId id="263" r:id="rId4"/>
    <p:sldId id="264" r:id="rId5"/>
    <p:sldId id="265" r:id="rId6"/>
    <p:sldId id="271" r:id="rId7"/>
    <p:sldId id="272" r:id="rId8"/>
    <p:sldId id="273" r:id="rId9"/>
    <p:sldId id="274" r:id="rId10"/>
    <p:sldId id="275" r:id="rId11"/>
    <p:sldId id="281" r:id="rId12"/>
    <p:sldId id="282" r:id="rId13"/>
    <p:sldId id="283" r:id="rId14"/>
    <p:sldId id="284" r:id="rId15"/>
    <p:sldId id="285" r:id="rId16"/>
    <p:sldId id="291" r:id="rId17"/>
    <p:sldId id="292" r:id="rId18"/>
    <p:sldId id="293" r:id="rId19"/>
    <p:sldId id="294" r:id="rId20"/>
    <p:sldId id="295" r:id="rId21"/>
    <p:sldId id="301" r:id="rId22"/>
    <p:sldId id="302" r:id="rId23"/>
    <p:sldId id="303" r:id="rId24"/>
    <p:sldId id="326" r:id="rId25"/>
    <p:sldId id="305" r:id="rId26"/>
    <p:sldId id="311" r:id="rId27"/>
    <p:sldId id="312" r:id="rId28"/>
    <p:sldId id="313" r:id="rId29"/>
    <p:sldId id="314" r:id="rId30"/>
    <p:sldId id="315" r:id="rId31"/>
    <p:sldId id="321" r:id="rId32"/>
    <p:sldId id="322" r:id="rId33"/>
    <p:sldId id="323" r:id="rId34"/>
    <p:sldId id="324" r:id="rId35"/>
    <p:sldId id="325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632A8F-E7CE-48A2-BB4D-CAA5E63911E7}" v="1" dt="2026-04-06T22:20:25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DD587564-A78D-4561-8E64-C12CF1DF9BAA}"/>
    <pc:docChg chg="custSel addSld delSld modSld addMainMaster delMainMaster">
      <pc:chgData name="Josué Silva de Morais" userId="f406c2cd-edfc-4057-be10-75858098c663" providerId="ADAL" clId="{DD587564-A78D-4561-8E64-C12CF1DF9BAA}" dt="2026-04-08T09:34:08.334" v="113" actId="255"/>
      <pc:docMkLst>
        <pc:docMk/>
      </pc:docMkLst>
      <pc:sldChg chg="add">
        <pc:chgData name="Josué Silva de Morais" userId="f406c2cd-edfc-4057-be10-75858098c663" providerId="ADAL" clId="{DD587564-A78D-4561-8E64-C12CF1DF9BAA}" dt="2026-04-06T23:29:28.766" v="4"/>
        <pc:sldMkLst>
          <pc:docMk/>
          <pc:sldMk cId="399533768" sldId="257"/>
        </pc:sldMkLst>
      </pc:sldChg>
      <pc:sldChg chg="add">
        <pc:chgData name="Josué Silva de Morais" userId="f406c2cd-edfc-4057-be10-75858098c663" providerId="ADAL" clId="{DD587564-A78D-4561-8E64-C12CF1DF9BAA}" dt="2026-04-06T23:30:04.822" v="10"/>
        <pc:sldMkLst>
          <pc:docMk/>
          <pc:sldMk cId="1400075128" sldId="262"/>
        </pc:sldMkLst>
      </pc:sldChg>
      <pc:sldChg chg="add">
        <pc:chgData name="Josué Silva de Morais" userId="f406c2cd-edfc-4057-be10-75858098c663" providerId="ADAL" clId="{DD587564-A78D-4561-8E64-C12CF1DF9BAA}" dt="2026-04-06T23:30:14.985" v="12"/>
        <pc:sldMkLst>
          <pc:docMk/>
          <pc:sldMk cId="1011182480" sldId="263"/>
        </pc:sldMkLst>
      </pc:sldChg>
      <pc:sldChg chg="add">
        <pc:chgData name="Josué Silva de Morais" userId="f406c2cd-edfc-4057-be10-75858098c663" providerId="ADAL" clId="{DD587564-A78D-4561-8E64-C12CF1DF9BAA}" dt="2026-04-06T23:30:40.188" v="14"/>
        <pc:sldMkLst>
          <pc:docMk/>
          <pc:sldMk cId="707239234" sldId="264"/>
        </pc:sldMkLst>
      </pc:sldChg>
      <pc:sldChg chg="add">
        <pc:chgData name="Josué Silva de Morais" userId="f406c2cd-edfc-4057-be10-75858098c663" providerId="ADAL" clId="{DD587564-A78D-4561-8E64-C12CF1DF9BAA}" dt="2026-04-06T23:31:06.171" v="16"/>
        <pc:sldMkLst>
          <pc:docMk/>
          <pc:sldMk cId="2568793851" sldId="265"/>
        </pc:sldMkLst>
      </pc:sldChg>
      <pc:sldChg chg="add">
        <pc:chgData name="Josué Silva de Morais" userId="f406c2cd-edfc-4057-be10-75858098c663" providerId="ADAL" clId="{DD587564-A78D-4561-8E64-C12CF1DF9BAA}" dt="2026-04-06T23:32:03.426" v="23"/>
        <pc:sldMkLst>
          <pc:docMk/>
          <pc:sldMk cId="45326665" sldId="271"/>
        </pc:sldMkLst>
      </pc:sldChg>
      <pc:sldChg chg="add">
        <pc:chgData name="Josué Silva de Morais" userId="f406c2cd-edfc-4057-be10-75858098c663" providerId="ADAL" clId="{DD587564-A78D-4561-8E64-C12CF1DF9BAA}" dt="2026-04-06T23:32:32.899" v="25"/>
        <pc:sldMkLst>
          <pc:docMk/>
          <pc:sldMk cId="4128478784" sldId="272"/>
        </pc:sldMkLst>
      </pc:sldChg>
      <pc:sldChg chg="add">
        <pc:chgData name="Josué Silva de Morais" userId="f406c2cd-edfc-4057-be10-75858098c663" providerId="ADAL" clId="{DD587564-A78D-4561-8E64-C12CF1DF9BAA}" dt="2026-04-06T23:32:44.893" v="27"/>
        <pc:sldMkLst>
          <pc:docMk/>
          <pc:sldMk cId="2314607422" sldId="273"/>
        </pc:sldMkLst>
      </pc:sldChg>
      <pc:sldChg chg="add">
        <pc:chgData name="Josué Silva de Morais" userId="f406c2cd-edfc-4057-be10-75858098c663" providerId="ADAL" clId="{DD587564-A78D-4561-8E64-C12CF1DF9BAA}" dt="2026-04-06T23:33:12.225" v="29"/>
        <pc:sldMkLst>
          <pc:docMk/>
          <pc:sldMk cId="493877801" sldId="274"/>
        </pc:sldMkLst>
      </pc:sldChg>
      <pc:sldChg chg="add">
        <pc:chgData name="Josué Silva de Morais" userId="f406c2cd-edfc-4057-be10-75858098c663" providerId="ADAL" clId="{DD587564-A78D-4561-8E64-C12CF1DF9BAA}" dt="2026-04-06T23:33:44.328" v="31"/>
        <pc:sldMkLst>
          <pc:docMk/>
          <pc:sldMk cId="590355821" sldId="275"/>
        </pc:sldMkLst>
      </pc:sldChg>
      <pc:sldChg chg="add">
        <pc:chgData name="Josué Silva de Morais" userId="f406c2cd-edfc-4057-be10-75858098c663" providerId="ADAL" clId="{DD587564-A78D-4561-8E64-C12CF1DF9BAA}" dt="2026-04-06T23:34:36.474" v="38"/>
        <pc:sldMkLst>
          <pc:docMk/>
          <pc:sldMk cId="1956596918" sldId="281"/>
        </pc:sldMkLst>
      </pc:sldChg>
      <pc:sldChg chg="add">
        <pc:chgData name="Josué Silva de Morais" userId="f406c2cd-edfc-4057-be10-75858098c663" providerId="ADAL" clId="{DD587564-A78D-4561-8E64-C12CF1DF9BAA}" dt="2026-04-06T23:35:02.233" v="40"/>
        <pc:sldMkLst>
          <pc:docMk/>
          <pc:sldMk cId="1997135868" sldId="282"/>
        </pc:sldMkLst>
      </pc:sldChg>
      <pc:sldChg chg="add">
        <pc:chgData name="Josué Silva de Morais" userId="f406c2cd-edfc-4057-be10-75858098c663" providerId="ADAL" clId="{DD587564-A78D-4561-8E64-C12CF1DF9BAA}" dt="2026-04-06T23:35:12.934" v="42"/>
        <pc:sldMkLst>
          <pc:docMk/>
          <pc:sldMk cId="3594411094" sldId="283"/>
        </pc:sldMkLst>
      </pc:sldChg>
      <pc:sldChg chg="add">
        <pc:chgData name="Josué Silva de Morais" userId="f406c2cd-edfc-4057-be10-75858098c663" providerId="ADAL" clId="{DD587564-A78D-4561-8E64-C12CF1DF9BAA}" dt="2026-04-06T23:35:38.821" v="44"/>
        <pc:sldMkLst>
          <pc:docMk/>
          <pc:sldMk cId="983549855" sldId="284"/>
        </pc:sldMkLst>
      </pc:sldChg>
      <pc:sldChg chg="add">
        <pc:chgData name="Josué Silva de Morais" userId="f406c2cd-edfc-4057-be10-75858098c663" providerId="ADAL" clId="{DD587564-A78D-4561-8E64-C12CF1DF9BAA}" dt="2026-04-06T23:36:05.023" v="46"/>
        <pc:sldMkLst>
          <pc:docMk/>
          <pc:sldMk cId="853093791" sldId="285"/>
        </pc:sldMkLst>
      </pc:sldChg>
      <pc:sldChg chg="add">
        <pc:chgData name="Josué Silva de Morais" userId="f406c2cd-edfc-4057-be10-75858098c663" providerId="ADAL" clId="{DD587564-A78D-4561-8E64-C12CF1DF9BAA}" dt="2026-04-06T23:36:54.476" v="53"/>
        <pc:sldMkLst>
          <pc:docMk/>
          <pc:sldMk cId="3331805773" sldId="291"/>
        </pc:sldMkLst>
      </pc:sldChg>
      <pc:sldChg chg="add">
        <pc:chgData name="Josué Silva de Morais" userId="f406c2cd-edfc-4057-be10-75858098c663" providerId="ADAL" clId="{DD587564-A78D-4561-8E64-C12CF1DF9BAA}" dt="2026-04-06T23:37:21.405" v="55"/>
        <pc:sldMkLst>
          <pc:docMk/>
          <pc:sldMk cId="331535914" sldId="292"/>
        </pc:sldMkLst>
      </pc:sldChg>
      <pc:sldChg chg="add">
        <pc:chgData name="Josué Silva de Morais" userId="f406c2cd-edfc-4057-be10-75858098c663" providerId="ADAL" clId="{DD587564-A78D-4561-8E64-C12CF1DF9BAA}" dt="2026-04-06T23:37:50.364" v="57"/>
        <pc:sldMkLst>
          <pc:docMk/>
          <pc:sldMk cId="1314471418" sldId="293"/>
        </pc:sldMkLst>
      </pc:sldChg>
      <pc:sldChg chg="add">
        <pc:chgData name="Josué Silva de Morais" userId="f406c2cd-edfc-4057-be10-75858098c663" providerId="ADAL" clId="{DD587564-A78D-4561-8E64-C12CF1DF9BAA}" dt="2026-04-06T23:38:18.505" v="59"/>
        <pc:sldMkLst>
          <pc:docMk/>
          <pc:sldMk cId="1948532436" sldId="294"/>
        </pc:sldMkLst>
      </pc:sldChg>
      <pc:sldChg chg="add">
        <pc:chgData name="Josué Silva de Morais" userId="f406c2cd-edfc-4057-be10-75858098c663" providerId="ADAL" clId="{DD587564-A78D-4561-8E64-C12CF1DF9BAA}" dt="2026-04-06T23:38:29.554" v="61"/>
        <pc:sldMkLst>
          <pc:docMk/>
          <pc:sldMk cId="2137640330" sldId="295"/>
        </pc:sldMkLst>
      </pc:sldChg>
      <pc:sldChg chg="new del">
        <pc:chgData name="Josué Silva de Morais" userId="f406c2cd-edfc-4057-be10-75858098c663" providerId="ADAL" clId="{DD587564-A78D-4561-8E64-C12CF1DF9BAA}" dt="2026-04-08T09:24:19.939" v="78"/>
        <pc:sldMkLst>
          <pc:docMk/>
          <pc:sldMk cId="3257429537" sldId="300"/>
        </pc:sldMkLst>
      </pc:sldChg>
      <pc:sldChg chg="add">
        <pc:chgData name="Josué Silva de Morais" userId="f406c2cd-edfc-4057-be10-75858098c663" providerId="ADAL" clId="{DD587564-A78D-4561-8E64-C12CF1DF9BAA}" dt="2026-04-06T23:39:24.183" v="68"/>
        <pc:sldMkLst>
          <pc:docMk/>
          <pc:sldMk cId="3355532278" sldId="301"/>
        </pc:sldMkLst>
      </pc:sldChg>
      <pc:sldChg chg="add">
        <pc:chgData name="Josué Silva de Morais" userId="f406c2cd-edfc-4057-be10-75858098c663" providerId="ADAL" clId="{DD587564-A78D-4561-8E64-C12CF1DF9BAA}" dt="2026-04-06T23:39:53.832" v="70"/>
        <pc:sldMkLst>
          <pc:docMk/>
          <pc:sldMk cId="1284851286" sldId="302"/>
        </pc:sldMkLst>
      </pc:sldChg>
      <pc:sldChg chg="add">
        <pc:chgData name="Josué Silva de Morais" userId="f406c2cd-edfc-4057-be10-75858098c663" providerId="ADAL" clId="{DD587564-A78D-4561-8E64-C12CF1DF9BAA}" dt="2026-04-06T23:40:30.098" v="72"/>
        <pc:sldMkLst>
          <pc:docMk/>
          <pc:sldMk cId="2163347411" sldId="303"/>
        </pc:sldMkLst>
      </pc:sldChg>
      <pc:sldChg chg="modSp add del mod">
        <pc:chgData name="Josué Silva de Morais" userId="f406c2cd-edfc-4057-be10-75858098c663" providerId="ADAL" clId="{DD587564-A78D-4561-8E64-C12CF1DF9BAA}" dt="2026-04-08T09:31:39.508" v="111"/>
        <pc:sldMkLst>
          <pc:docMk/>
          <pc:sldMk cId="1730204839" sldId="304"/>
        </pc:sldMkLst>
        <pc:spChg chg="mod">
          <ac:chgData name="Josué Silva de Morais" userId="f406c2cd-edfc-4057-be10-75858098c663" providerId="ADAL" clId="{DD587564-A78D-4561-8E64-C12CF1DF9BAA}" dt="2026-04-06T23:41:02.271" v="76" actId="27636"/>
          <ac:spMkLst>
            <pc:docMk/>
            <pc:sldMk cId="1730204839" sldId="304"/>
            <ac:spMk id="3" creationId="{D9E881DC-5EA2-943C-77AA-3324AA6465F0}"/>
          </ac:spMkLst>
        </pc:spChg>
      </pc:sldChg>
      <pc:sldChg chg="modSp add mod">
        <pc:chgData name="Josué Silva de Morais" userId="f406c2cd-edfc-4057-be10-75858098c663" providerId="ADAL" clId="{DD587564-A78D-4561-8E64-C12CF1DF9BAA}" dt="2026-04-08T09:24:19.984" v="79" actId="27636"/>
        <pc:sldMkLst>
          <pc:docMk/>
          <pc:sldMk cId="2531310387" sldId="305"/>
        </pc:sldMkLst>
        <pc:spChg chg="mod">
          <ac:chgData name="Josué Silva de Morais" userId="f406c2cd-edfc-4057-be10-75858098c663" providerId="ADAL" clId="{DD587564-A78D-4561-8E64-C12CF1DF9BAA}" dt="2026-04-08T09:24:19.984" v="79" actId="27636"/>
          <ac:spMkLst>
            <pc:docMk/>
            <pc:sldMk cId="2531310387" sldId="305"/>
            <ac:spMk id="3" creationId="{1CCAB539-D8B8-666C-5067-658637C841E5}"/>
          </ac:spMkLst>
        </pc:spChg>
      </pc:sldChg>
      <pc:sldChg chg="new del">
        <pc:chgData name="Josué Silva de Morais" userId="f406c2cd-edfc-4057-be10-75858098c663" providerId="ADAL" clId="{DD587564-A78D-4561-8E64-C12CF1DF9BAA}" dt="2026-04-08T09:24:49.833" v="86"/>
        <pc:sldMkLst>
          <pc:docMk/>
          <pc:sldMk cId="1777974520" sldId="306"/>
        </pc:sldMkLst>
      </pc:sldChg>
      <pc:sldChg chg="new del">
        <pc:chgData name="Josué Silva de Morais" userId="f406c2cd-edfc-4057-be10-75858098c663" providerId="ADAL" clId="{DD587564-A78D-4561-8E64-C12CF1DF9BAA}" dt="2026-04-08T09:25:19.677" v="88"/>
        <pc:sldMkLst>
          <pc:docMk/>
          <pc:sldMk cId="621084651" sldId="307"/>
        </pc:sldMkLst>
      </pc:sldChg>
      <pc:sldChg chg="new del">
        <pc:chgData name="Josué Silva de Morais" userId="f406c2cd-edfc-4057-be10-75858098c663" providerId="ADAL" clId="{DD587564-A78D-4561-8E64-C12CF1DF9BAA}" dt="2026-04-08T09:25:51.817" v="90"/>
        <pc:sldMkLst>
          <pc:docMk/>
          <pc:sldMk cId="3102366216" sldId="308"/>
        </pc:sldMkLst>
      </pc:sldChg>
      <pc:sldChg chg="new del">
        <pc:chgData name="Josué Silva de Morais" userId="f406c2cd-edfc-4057-be10-75858098c663" providerId="ADAL" clId="{DD587564-A78D-4561-8E64-C12CF1DF9BAA}" dt="2026-04-08T09:26:21.345" v="92"/>
        <pc:sldMkLst>
          <pc:docMk/>
          <pc:sldMk cId="1450764382" sldId="309"/>
        </pc:sldMkLst>
      </pc:sldChg>
      <pc:sldChg chg="new del">
        <pc:chgData name="Josué Silva de Morais" userId="f406c2cd-edfc-4057-be10-75858098c663" providerId="ADAL" clId="{DD587564-A78D-4561-8E64-C12CF1DF9BAA}" dt="2026-04-08T09:26:47.846" v="94"/>
        <pc:sldMkLst>
          <pc:docMk/>
          <pc:sldMk cId="186058239" sldId="310"/>
        </pc:sldMkLst>
      </pc:sldChg>
      <pc:sldChg chg="add">
        <pc:chgData name="Josué Silva de Morais" userId="f406c2cd-edfc-4057-be10-75858098c663" providerId="ADAL" clId="{DD587564-A78D-4561-8E64-C12CF1DF9BAA}" dt="2026-04-08T09:24:49.829" v="85"/>
        <pc:sldMkLst>
          <pc:docMk/>
          <pc:sldMk cId="2416732042" sldId="311"/>
        </pc:sldMkLst>
      </pc:sldChg>
      <pc:sldChg chg="add">
        <pc:chgData name="Josué Silva de Morais" userId="f406c2cd-edfc-4057-be10-75858098c663" providerId="ADAL" clId="{DD587564-A78D-4561-8E64-C12CF1DF9BAA}" dt="2026-04-08T09:25:19.673" v="87"/>
        <pc:sldMkLst>
          <pc:docMk/>
          <pc:sldMk cId="410236749" sldId="312"/>
        </pc:sldMkLst>
      </pc:sldChg>
      <pc:sldChg chg="add">
        <pc:chgData name="Josué Silva de Morais" userId="f406c2cd-edfc-4057-be10-75858098c663" providerId="ADAL" clId="{DD587564-A78D-4561-8E64-C12CF1DF9BAA}" dt="2026-04-08T09:25:51.813" v="89"/>
        <pc:sldMkLst>
          <pc:docMk/>
          <pc:sldMk cId="860867478" sldId="313"/>
        </pc:sldMkLst>
      </pc:sldChg>
      <pc:sldChg chg="add">
        <pc:chgData name="Josué Silva de Morais" userId="f406c2cd-edfc-4057-be10-75858098c663" providerId="ADAL" clId="{DD587564-A78D-4561-8E64-C12CF1DF9BAA}" dt="2026-04-08T09:26:21.342" v="91"/>
        <pc:sldMkLst>
          <pc:docMk/>
          <pc:sldMk cId="3140024026" sldId="314"/>
        </pc:sldMkLst>
      </pc:sldChg>
      <pc:sldChg chg="add">
        <pc:chgData name="Josué Silva de Morais" userId="f406c2cd-edfc-4057-be10-75858098c663" providerId="ADAL" clId="{DD587564-A78D-4561-8E64-C12CF1DF9BAA}" dt="2026-04-08T09:26:47.843" v="93"/>
        <pc:sldMkLst>
          <pc:docMk/>
          <pc:sldMk cId="4117055020" sldId="315"/>
        </pc:sldMkLst>
      </pc:sldChg>
      <pc:sldChg chg="new del">
        <pc:chgData name="Josué Silva de Morais" userId="f406c2cd-edfc-4057-be10-75858098c663" providerId="ADAL" clId="{DD587564-A78D-4561-8E64-C12CF1DF9BAA}" dt="2026-04-08T09:28:02.345" v="101"/>
        <pc:sldMkLst>
          <pc:docMk/>
          <pc:sldMk cId="1807540373" sldId="316"/>
        </pc:sldMkLst>
      </pc:sldChg>
      <pc:sldChg chg="new del">
        <pc:chgData name="Josué Silva de Morais" userId="f406c2cd-edfc-4057-be10-75858098c663" providerId="ADAL" clId="{DD587564-A78D-4561-8E64-C12CF1DF9BAA}" dt="2026-04-08T09:28:36.278" v="103"/>
        <pc:sldMkLst>
          <pc:docMk/>
          <pc:sldMk cId="486881749" sldId="317"/>
        </pc:sldMkLst>
      </pc:sldChg>
      <pc:sldChg chg="new del">
        <pc:chgData name="Josué Silva de Morais" userId="f406c2cd-edfc-4057-be10-75858098c663" providerId="ADAL" clId="{DD587564-A78D-4561-8E64-C12CF1DF9BAA}" dt="2026-04-08T09:29:08.130" v="105"/>
        <pc:sldMkLst>
          <pc:docMk/>
          <pc:sldMk cId="1809216094" sldId="318"/>
        </pc:sldMkLst>
      </pc:sldChg>
      <pc:sldChg chg="new del">
        <pc:chgData name="Josué Silva de Morais" userId="f406c2cd-edfc-4057-be10-75858098c663" providerId="ADAL" clId="{DD587564-A78D-4561-8E64-C12CF1DF9BAA}" dt="2026-04-08T09:29:37.939" v="107"/>
        <pc:sldMkLst>
          <pc:docMk/>
          <pc:sldMk cId="72852839" sldId="319"/>
        </pc:sldMkLst>
      </pc:sldChg>
      <pc:sldChg chg="new del">
        <pc:chgData name="Josué Silva de Morais" userId="f406c2cd-edfc-4057-be10-75858098c663" providerId="ADAL" clId="{DD587564-A78D-4561-8E64-C12CF1DF9BAA}" dt="2026-04-08T09:29:52.595" v="109"/>
        <pc:sldMkLst>
          <pc:docMk/>
          <pc:sldMk cId="3894711154" sldId="320"/>
        </pc:sldMkLst>
      </pc:sldChg>
      <pc:sldChg chg="add">
        <pc:chgData name="Josué Silva de Morais" userId="f406c2cd-edfc-4057-be10-75858098c663" providerId="ADAL" clId="{DD587564-A78D-4561-8E64-C12CF1DF9BAA}" dt="2026-04-08T09:28:02.341" v="100"/>
        <pc:sldMkLst>
          <pc:docMk/>
          <pc:sldMk cId="946388594" sldId="321"/>
        </pc:sldMkLst>
      </pc:sldChg>
      <pc:sldChg chg="add">
        <pc:chgData name="Josué Silva de Morais" userId="f406c2cd-edfc-4057-be10-75858098c663" providerId="ADAL" clId="{DD587564-A78D-4561-8E64-C12CF1DF9BAA}" dt="2026-04-08T09:28:36.274" v="102"/>
        <pc:sldMkLst>
          <pc:docMk/>
          <pc:sldMk cId="3382806098" sldId="322"/>
        </pc:sldMkLst>
      </pc:sldChg>
      <pc:sldChg chg="add">
        <pc:chgData name="Josué Silva de Morais" userId="f406c2cd-edfc-4057-be10-75858098c663" providerId="ADAL" clId="{DD587564-A78D-4561-8E64-C12CF1DF9BAA}" dt="2026-04-08T09:29:08.127" v="104"/>
        <pc:sldMkLst>
          <pc:docMk/>
          <pc:sldMk cId="2463740144" sldId="323"/>
        </pc:sldMkLst>
      </pc:sldChg>
      <pc:sldChg chg="add">
        <pc:chgData name="Josué Silva de Morais" userId="f406c2cd-edfc-4057-be10-75858098c663" providerId="ADAL" clId="{DD587564-A78D-4561-8E64-C12CF1DF9BAA}" dt="2026-04-08T09:29:37.935" v="106"/>
        <pc:sldMkLst>
          <pc:docMk/>
          <pc:sldMk cId="3639329221" sldId="324"/>
        </pc:sldMkLst>
      </pc:sldChg>
      <pc:sldChg chg="add">
        <pc:chgData name="Josué Silva de Morais" userId="f406c2cd-edfc-4057-be10-75858098c663" providerId="ADAL" clId="{DD587564-A78D-4561-8E64-C12CF1DF9BAA}" dt="2026-04-08T09:29:52.593" v="108"/>
        <pc:sldMkLst>
          <pc:docMk/>
          <pc:sldMk cId="2558684991" sldId="325"/>
        </pc:sldMkLst>
      </pc:sldChg>
      <pc:sldChg chg="modSp add mod">
        <pc:chgData name="Josué Silva de Morais" userId="f406c2cd-edfc-4057-be10-75858098c663" providerId="ADAL" clId="{DD587564-A78D-4561-8E64-C12CF1DF9BAA}" dt="2026-04-08T09:34:08.334" v="113" actId="255"/>
        <pc:sldMkLst>
          <pc:docMk/>
          <pc:sldMk cId="3582902321" sldId="326"/>
        </pc:sldMkLst>
        <pc:spChg chg="mod">
          <ac:chgData name="Josué Silva de Morais" userId="f406c2cd-edfc-4057-be10-75858098c663" providerId="ADAL" clId="{DD587564-A78D-4561-8E64-C12CF1DF9BAA}" dt="2026-04-08T09:34:08.334" v="113" actId="255"/>
          <ac:spMkLst>
            <pc:docMk/>
            <pc:sldMk cId="3582902321" sldId="326"/>
            <ac:spMk id="3" creationId="{D9E881DC-5EA2-943C-77AA-3324AA6465F0}"/>
          </ac:spMkLst>
        </pc:spChg>
      </pc:sldChg>
      <pc:sldMasterChg chg="add addSldLayout">
        <pc:chgData name="Josué Silva de Morais" userId="f406c2cd-edfc-4057-be10-75858098c663" providerId="ADAL" clId="{DD587564-A78D-4561-8E64-C12CF1DF9BAA}" dt="2026-04-06T22:21:58.793" v="0"/>
        <pc:sldMasterMkLst>
          <pc:docMk/>
          <pc:sldMasterMk cId="1438430438" sldId="2147483660"/>
        </pc:sldMasterMkLst>
        <pc:sldLayoutChg chg="add">
          <pc:chgData name="Josué Silva de Morais" userId="f406c2cd-edfc-4057-be10-75858098c663" providerId="ADAL" clId="{DD587564-A78D-4561-8E64-C12CF1DF9BAA}" dt="2026-04-06T22:21:58.793" v="0"/>
          <pc:sldLayoutMkLst>
            <pc:docMk/>
            <pc:sldMasterMk cId="1438430438" sldId="2147483660"/>
            <pc:sldLayoutMk cId="3460941104" sldId="2147483661"/>
          </pc:sldLayoutMkLst>
        </pc:sldLayoutChg>
        <pc:sldLayoutChg chg="add">
          <pc:chgData name="Josué Silva de Morais" userId="f406c2cd-edfc-4057-be10-75858098c663" providerId="ADAL" clId="{DD587564-A78D-4561-8E64-C12CF1DF9BAA}" dt="2026-04-06T22:21:58.793" v="0"/>
          <pc:sldLayoutMkLst>
            <pc:docMk/>
            <pc:sldMasterMk cId="1438430438" sldId="2147483660"/>
            <pc:sldLayoutMk cId="2637877400" sldId="2147483662"/>
          </pc:sldLayoutMkLst>
        </pc:sldLayoutChg>
        <pc:sldLayoutChg chg="add">
          <pc:chgData name="Josué Silva de Morais" userId="f406c2cd-edfc-4057-be10-75858098c663" providerId="ADAL" clId="{DD587564-A78D-4561-8E64-C12CF1DF9BAA}" dt="2026-04-06T22:21:58.793" v="0"/>
          <pc:sldLayoutMkLst>
            <pc:docMk/>
            <pc:sldMasterMk cId="1438430438" sldId="2147483660"/>
            <pc:sldLayoutMk cId="589459672" sldId="2147483663"/>
          </pc:sldLayoutMkLst>
        </pc:sldLayoutChg>
        <pc:sldLayoutChg chg="add">
          <pc:chgData name="Josué Silva de Morais" userId="f406c2cd-edfc-4057-be10-75858098c663" providerId="ADAL" clId="{DD587564-A78D-4561-8E64-C12CF1DF9BAA}" dt="2026-04-06T22:21:58.793" v="0"/>
          <pc:sldLayoutMkLst>
            <pc:docMk/>
            <pc:sldMasterMk cId="1438430438" sldId="2147483660"/>
            <pc:sldLayoutMk cId="2761277921" sldId="2147483664"/>
          </pc:sldLayoutMkLst>
        </pc:sldLayoutChg>
        <pc:sldLayoutChg chg="add">
          <pc:chgData name="Josué Silva de Morais" userId="f406c2cd-edfc-4057-be10-75858098c663" providerId="ADAL" clId="{DD587564-A78D-4561-8E64-C12CF1DF9BAA}" dt="2026-04-06T22:21:58.793" v="0"/>
          <pc:sldLayoutMkLst>
            <pc:docMk/>
            <pc:sldMasterMk cId="1438430438" sldId="2147483660"/>
            <pc:sldLayoutMk cId="2887907005" sldId="2147483665"/>
          </pc:sldLayoutMkLst>
        </pc:sldLayoutChg>
        <pc:sldLayoutChg chg="add">
          <pc:chgData name="Josué Silva de Morais" userId="f406c2cd-edfc-4057-be10-75858098c663" providerId="ADAL" clId="{DD587564-A78D-4561-8E64-C12CF1DF9BAA}" dt="2026-04-06T22:21:58.793" v="0"/>
          <pc:sldLayoutMkLst>
            <pc:docMk/>
            <pc:sldMasterMk cId="1438430438" sldId="2147483660"/>
            <pc:sldLayoutMk cId="3911451959" sldId="2147483666"/>
          </pc:sldLayoutMkLst>
        </pc:sldLayoutChg>
        <pc:sldLayoutChg chg="add">
          <pc:chgData name="Josué Silva de Morais" userId="f406c2cd-edfc-4057-be10-75858098c663" providerId="ADAL" clId="{DD587564-A78D-4561-8E64-C12CF1DF9BAA}" dt="2026-04-06T22:21:58.793" v="0"/>
          <pc:sldLayoutMkLst>
            <pc:docMk/>
            <pc:sldMasterMk cId="1438430438" sldId="2147483660"/>
            <pc:sldLayoutMk cId="4156551377" sldId="2147483667"/>
          </pc:sldLayoutMkLst>
        </pc:sldLayoutChg>
        <pc:sldLayoutChg chg="add">
          <pc:chgData name="Josué Silva de Morais" userId="f406c2cd-edfc-4057-be10-75858098c663" providerId="ADAL" clId="{DD587564-A78D-4561-8E64-C12CF1DF9BAA}" dt="2026-04-06T22:21:58.793" v="0"/>
          <pc:sldLayoutMkLst>
            <pc:docMk/>
            <pc:sldMasterMk cId="1438430438" sldId="2147483660"/>
            <pc:sldLayoutMk cId="2413093353" sldId="2147483668"/>
          </pc:sldLayoutMkLst>
        </pc:sldLayoutChg>
        <pc:sldLayoutChg chg="add">
          <pc:chgData name="Josué Silva de Morais" userId="f406c2cd-edfc-4057-be10-75858098c663" providerId="ADAL" clId="{DD587564-A78D-4561-8E64-C12CF1DF9BAA}" dt="2026-04-06T22:21:58.793" v="0"/>
          <pc:sldLayoutMkLst>
            <pc:docMk/>
            <pc:sldMasterMk cId="1438430438" sldId="2147483660"/>
            <pc:sldLayoutMk cId="4198438429" sldId="2147483669"/>
          </pc:sldLayoutMkLst>
        </pc:sldLayoutChg>
        <pc:sldLayoutChg chg="add">
          <pc:chgData name="Josué Silva de Morais" userId="f406c2cd-edfc-4057-be10-75858098c663" providerId="ADAL" clId="{DD587564-A78D-4561-8E64-C12CF1DF9BAA}" dt="2026-04-06T22:21:58.793" v="0"/>
          <pc:sldLayoutMkLst>
            <pc:docMk/>
            <pc:sldMasterMk cId="1438430438" sldId="2147483660"/>
            <pc:sldLayoutMk cId="2186002313" sldId="2147483670"/>
          </pc:sldLayoutMkLst>
        </pc:sldLayoutChg>
        <pc:sldLayoutChg chg="add">
          <pc:chgData name="Josué Silva de Morais" userId="f406c2cd-edfc-4057-be10-75858098c663" providerId="ADAL" clId="{DD587564-A78D-4561-8E64-C12CF1DF9BAA}" dt="2026-04-06T22:21:58.793" v="0"/>
          <pc:sldLayoutMkLst>
            <pc:docMk/>
            <pc:sldMasterMk cId="1438430438" sldId="2147483660"/>
            <pc:sldLayoutMk cId="806521439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85BA5-26AF-AED2-CC2F-D82977FB9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48D901-39DB-395B-764E-725A3A213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74B25A-87EA-B139-DC34-67517BB0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2AD4D5-CAC6-3F50-D147-D944AA976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9464A0-6E20-E777-FB17-AEF05633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94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C52BD-5F89-2835-9794-37AB192D8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D8D61A-4B6E-4B71-FFDF-7AB6B79DF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00554F-01F2-7A21-F662-8470C5182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D584E0-02F2-AB71-AB02-7FFC597D1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704656-E198-736C-AA01-B361FF9EA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787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802C1-82B7-5D51-C54A-43E5A2EB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E771FE-2DC1-D8DD-50A2-9C04E749E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5C1699-BB05-A4FD-0431-1B0C3846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322B1F-4EBB-EBE4-D729-34EF1814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A110DF-D750-A139-C251-8E17D945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459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21AE5-20DA-6741-BFCD-0437A4BB0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80BC2E-E1DA-F440-41E6-4CC899716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E2A45C-389B-3BF9-FFF3-2FADC26A1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1F436E-BF28-42AA-B8F1-01A8CBBF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580316-DAC3-2606-B07E-16F018B00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B64498-BEA5-BE3D-2B63-2092F4B05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1277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E6DBC-B590-CD13-1E9C-022E0015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7ED1E9-71B1-D867-6D80-28680B605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978CD7-9162-7084-8F0D-90618C5C1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A4959B-C21A-2086-9BB6-B6FF323B7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8E58068-44A2-1A1C-C6CB-F70691BD1B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5E13A5B-2404-8335-275D-F0BFD657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8F483F-3D39-0228-3DD1-1152F37F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EE0CA5-02A6-698E-1262-2CA0485F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907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3A198-7B17-658C-E266-213CBEC7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6BC6F1-9D63-1FEA-5EE1-1FDE7DBF0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87CC314-E8BC-735A-D705-871213018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55594A-25A4-2D30-CA65-32219EEA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451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C9B7384-1F79-C0E0-5D1A-C820C111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3AF911A-8000-23CF-38B7-60A8A23A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BB386A-7CF8-84A0-3AB7-7065F6F37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551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0F0B5-8329-713E-D819-716A13F5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9E6213-DC08-56FD-2676-E65C1E47B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ECCBDB-63AE-8EDD-EAD7-A7B3656CA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B02224-6882-C7A9-405A-E22EC6C62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431CBE-62B0-4BFC-19DF-68B665F0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A1348D-05B2-2270-993E-D86C0997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3093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4B3A2-82B3-622B-0442-E2E1F69D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A491A2-A873-ED48-5E88-14668E668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5D5248-BAC5-53F0-0E76-A89A3AD02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1266B8-3E02-E955-AB18-9CBF1697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79657A-E468-3118-CD83-5DA2AEB6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653F1A-CF5D-4FA0-7F43-3626A046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843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03BC9-5764-C067-3FDB-EFAB00E9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4E9B73-D94B-079A-0D19-B8147393C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5E0660-C377-1F2C-E983-8875E3F0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624A00-C6CA-68F6-EE77-70ABF276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E53E9D-8A41-1625-240A-0498D370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002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4F2B33-DE5A-21E3-76C2-E4AAC35C5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6E06C0-EF9F-CE67-ED09-1252218C4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723CCB-01E4-6B5A-6D93-81165459E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BAA4E6-1E7D-810F-BEA7-F55B2FA3C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97982D-CBE2-63F3-CD5E-63E7729A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52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0D12"/>
            </a:gs>
            <a:gs pos="50000">
              <a:srgbClr val="111118"/>
            </a:gs>
            <a:gs pos="100000">
              <a:srgbClr val="0F0F1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CC1CB3A-840D-140B-B7EA-B5453CD21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AA668B-0771-541E-3055-A86987461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F9FBD9-18F5-3134-6946-14DE1EBE0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E542D-81DA-4A07-A7AB-D85E874AC90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AD2D3-3554-B3F3-57F8-CF88EF0F4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A02547-072B-D17C-5B40-A180D8D28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  <p:sp>
        <p:nvSpPr>
          <p:cNvPr id="100" name="BottomAccent"/>
          <p:cNvSpPr/>
          <p:nvPr/>
        </p:nvSpPr>
        <p:spPr>
          <a:xfrm>
            <a:off x="0" y="6692900"/>
            <a:ext cx="12192000" cy="165100"/>
          </a:xfrm>
          <a:prstGeom prst="rect">
            <a:avLst/>
          </a:prstGeom>
          <a:gradFill>
            <a:gsLst>
              <a:gs pos="0">
                <a:srgbClr val="6C5CE7"/>
              </a:gs>
              <a:gs pos="50000">
                <a:srgbClr val="00CEC9"/>
              </a:gs>
              <a:gs pos="100000">
                <a:srgbClr val="74B9FF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TopCornerAccent"/>
          <p:cNvSpPr/>
          <p:nvPr/>
        </p:nvSpPr>
        <p:spPr>
          <a:xfrm>
            <a:off x="0" y="0"/>
            <a:ext cx="914400" cy="914400"/>
          </a:xfrm>
          <a:prstGeom prst="rtTriangle">
            <a:avLst/>
          </a:prstGeom>
          <a:gradFill>
            <a:gsLst>
              <a:gs pos="0">
                <a:srgbClr val="6C5CE7">
                  <a:alpha val="20000"/>
                </a:srgbClr>
              </a:gs>
              <a:gs pos="100000">
                <a:srgbClr val="6C5CE7">
                  <a:alpha val="0"/>
                </a:srgbClr>
              </a:gs>
            </a:gsLst>
            <a:lin ang="270000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843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0F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0D0E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rgbClr val="D0D0E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42514-793D-78AE-C796-54B3DC490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F0F0F5"/>
                </a:solidFill>
              </a:rPr>
              <a:t>Processamento Digital de Sinais</a:t>
            </a:r>
          </a:p>
          <a:p>
            <a:pPr algn="ctr">
              <a:buNone/>
            </a:pPr>
            <a:r>
              <a:rPr lang="pt-BR" sz="3600" b="1" dirty="0">
                <a:solidFill>
                  <a:srgbClr val="6C5CE7"/>
                </a:solidFill>
              </a:rPr>
              <a:t>DSP na ESP32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B67BE5-6751-2E2D-F3EA-15A4C307FD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B0B0C0"/>
                </a:solidFill>
              </a:rPr>
              <a:t>Fundamentos, Filtros Digitais, FFT e Aplicações Práticas</a:t>
            </a:r>
          </a:p>
          <a:p>
            <a:pPr algn="ctr">
              <a:buNone/>
            </a:pPr>
            <a:r>
              <a:rPr lang="pt-BR" sz="1600" dirty="0">
                <a:solidFill>
                  <a:srgbClr val="00CEC9"/>
                </a:solidFill>
              </a:rPr>
              <a:t>Aula 09 | Sistemas Embarcados com ESP32</a:t>
            </a:r>
          </a:p>
        </p:txBody>
      </p:sp>
      <p:sp>
        <p:nvSpPr>
          <p:cNvPr id="50" name="DecoLine"/>
          <p:cNvSpPr/>
          <p:nvPr/>
        </p:nvSpPr>
        <p:spPr>
          <a:xfrm>
            <a:off x="3657600" y="4800600"/>
            <a:ext cx="4876800" cy="0"/>
          </a:xfrm>
          <a:prstGeom prst="line">
            <a:avLst/>
          </a:prstGeom>
          <a:ln w="19050">
            <a:gradFill>
              <a:gsLst>
                <a:gs pos="0">
                  <a:srgbClr val="6C5CE7">
                    <a:alpha val="0"/>
                  </a:srgbClr>
                </a:gs>
                <a:gs pos="50000">
                  <a:srgbClr val="00CEC9"/>
                </a:gs>
                <a:gs pos="100000">
                  <a:srgbClr val="6C5CE7">
                    <a:alpha val="0"/>
                  </a:srgbClr>
                </a:gs>
              </a:gsLst>
              <a:lin ang="0" scaled="1"/>
            </a:gradFill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33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8AE7F-DBE4-540F-9FDE-8CD67019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AA730F-BAA9-E028-F85B-CA81FB4E9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None/>
            </a:pPr>
            <a:r>
              <a:rPr lang="pt-BR" sz="1400" b="1" dirty="0">
                <a:solidFill>
                  <a:srgbClr val="6C5CE7"/>
                </a:solidFill>
              </a:rPr>
              <a:t>01  </a:t>
            </a:r>
            <a:r>
              <a:rPr lang="pt-BR" sz="1600" dirty="0">
                <a:solidFill>
                  <a:srgbClr val="D0D0E0"/>
                </a:solidFill>
              </a:rPr>
              <a:t>Fundamentos de DSP</a:t>
            </a:r>
          </a:p>
          <a:p>
            <a:pPr marL="0" indent="0">
              <a:lnSpc>
                <a:spcPts val="2400"/>
              </a:lnSpc>
              <a:buNone/>
            </a:pPr>
            <a:r>
              <a:rPr lang="pt-BR" sz="1400" b="1" dirty="0">
                <a:solidFill>
                  <a:srgbClr val="00CEC9"/>
                </a:solidFill>
              </a:rPr>
              <a:t>02  </a:t>
            </a:r>
            <a:r>
              <a:rPr lang="pt-BR" sz="1600" dirty="0">
                <a:solidFill>
                  <a:srgbClr val="D0D0E0"/>
                </a:solidFill>
              </a:rPr>
              <a:t>Aquisição de Sinais na ESP32</a:t>
            </a:r>
          </a:p>
          <a:p>
            <a:pPr marL="0" indent="0">
              <a:lnSpc>
                <a:spcPts val="2400"/>
              </a:lnSpc>
              <a:buNone/>
            </a:pPr>
            <a:r>
              <a:rPr lang="pt-BR" sz="1400" b="1" dirty="0">
                <a:solidFill>
                  <a:srgbClr val="74B9FF"/>
                </a:solidFill>
              </a:rPr>
              <a:t>03  </a:t>
            </a:r>
            <a:r>
              <a:rPr lang="pt-BR" sz="1600" dirty="0">
                <a:solidFill>
                  <a:srgbClr val="D0D0E0"/>
                </a:solidFill>
              </a:rPr>
              <a:t>Representação e Pré-processamento</a:t>
            </a:r>
          </a:p>
          <a:p>
            <a:pPr marL="0" indent="0">
              <a:lnSpc>
                <a:spcPts val="2400"/>
              </a:lnSpc>
              <a:buNone/>
            </a:pPr>
            <a:r>
              <a:rPr lang="pt-BR" sz="1400" b="1" dirty="0">
                <a:solidFill>
                  <a:srgbClr val="FD79A8"/>
                </a:solidFill>
              </a:rPr>
              <a:t>04  </a:t>
            </a:r>
            <a:r>
              <a:rPr lang="pt-BR" sz="1600" dirty="0">
                <a:solidFill>
                  <a:srgbClr val="D0D0E0"/>
                </a:solidFill>
              </a:rPr>
              <a:t>Filtros Digitais (FIR e IIR)</a:t>
            </a:r>
          </a:p>
          <a:p>
            <a:pPr marL="0" indent="0">
              <a:lnSpc>
                <a:spcPts val="2400"/>
              </a:lnSpc>
              <a:buNone/>
            </a:pPr>
            <a:r>
              <a:rPr lang="pt-BR" sz="1400" b="1" dirty="0">
                <a:solidFill>
                  <a:srgbClr val="FDCB6E"/>
                </a:solidFill>
              </a:rPr>
              <a:t>05  </a:t>
            </a:r>
            <a:r>
              <a:rPr lang="pt-BR" sz="1600" dirty="0">
                <a:solidFill>
                  <a:srgbClr val="D0D0E0"/>
                </a:solidFill>
              </a:rPr>
              <a:t>Filtros Práticos na ESP32</a:t>
            </a:r>
          </a:p>
          <a:p>
            <a:pPr marL="0" indent="0">
              <a:lnSpc>
                <a:spcPts val="2400"/>
              </a:lnSpc>
              <a:buNone/>
            </a:pPr>
            <a:r>
              <a:rPr lang="pt-BR" sz="1400" b="1" dirty="0">
                <a:solidFill>
                  <a:srgbClr val="55EFC4"/>
                </a:solidFill>
              </a:rPr>
              <a:t>06  </a:t>
            </a:r>
            <a:r>
              <a:rPr lang="pt-BR" sz="1600" dirty="0">
                <a:solidFill>
                  <a:srgbClr val="D0D0E0"/>
                </a:solidFill>
              </a:rPr>
              <a:t>Transformada de Fourier e FFT</a:t>
            </a:r>
          </a:p>
          <a:p>
            <a:pPr marL="0" indent="0">
              <a:lnSpc>
                <a:spcPts val="2400"/>
              </a:lnSpc>
              <a:buNone/>
            </a:pPr>
            <a:r>
              <a:rPr lang="pt-BR" sz="1400" b="1" dirty="0">
                <a:solidFill>
                  <a:srgbClr val="6C5CE7"/>
                </a:solidFill>
              </a:rPr>
              <a:t>07  </a:t>
            </a:r>
            <a:r>
              <a:rPr lang="pt-BR" sz="1600" dirty="0">
                <a:solidFill>
                  <a:srgbClr val="D0D0E0"/>
                </a:solidFill>
              </a:rPr>
              <a:t>Código Prático e Otimização</a:t>
            </a:r>
          </a:p>
          <a:p>
            <a:pPr marL="0" indent="0">
              <a:lnSpc>
                <a:spcPts val="2400"/>
              </a:lnSpc>
              <a:buNone/>
            </a:pPr>
            <a:r>
              <a:rPr lang="pt-BR" sz="1400" b="1" dirty="0">
                <a:solidFill>
                  <a:srgbClr val="00CEC9"/>
                </a:solidFill>
              </a:rPr>
              <a:t>08  </a:t>
            </a:r>
            <a:r>
              <a:rPr lang="pt-BR" sz="1600" dirty="0">
                <a:solidFill>
                  <a:srgbClr val="D0D0E0"/>
                </a:solidFill>
              </a:rPr>
              <a:t>Aplicações Reais e Limitações</a:t>
            </a:r>
          </a:p>
        </p:txBody>
      </p:sp>
    </p:spTree>
    <p:extLst>
      <p:ext uri="{BB962C8B-B14F-4D97-AF65-F5344CB8AC3E}">
        <p14:creationId xmlns:p14="http://schemas.microsoft.com/office/powerpoint/2010/main" val="1400075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0DF5B-4CC2-2327-0F9F-B44856E75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1800" dirty="0">
                <a:solidFill>
                  <a:srgbClr val="6C5CE7"/>
                </a:solidFill>
              </a:rPr>
              <a:t>01</a:t>
            </a:r>
          </a:p>
          <a:p>
            <a:pPr algn="l">
              <a:buNone/>
            </a:pPr>
            <a:r>
              <a:rPr lang="pt-BR" sz="3600" b="1" dirty="0">
                <a:solidFill>
                  <a:srgbClr val="F0F0F5"/>
                </a:solidFill>
              </a:rPr>
              <a:t>Fundamentos de DSP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934AE5-3505-6396-7809-9D4E811F4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pt-BR" sz="1600" dirty="0">
                <a:solidFill>
                  <a:srgbClr val="B0B0C0"/>
                </a:solidFill>
              </a:rPr>
              <a:t>Conceitos essenciais de processamento digital de sinais</a:t>
            </a:r>
          </a:p>
        </p:txBody>
      </p:sp>
    </p:spTree>
    <p:extLst>
      <p:ext uri="{BB962C8B-B14F-4D97-AF65-F5344CB8AC3E}">
        <p14:creationId xmlns:p14="http://schemas.microsoft.com/office/powerpoint/2010/main" val="1011182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D91A1-2D72-889D-3220-4600B00F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O que é Processamento Digital de Sinais?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7CD4BE-D8B1-D87D-3DC6-6E684F91F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2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Definição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Manipulação matemática de sinais representados digitalmente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Converte sinais do mundo real em sequências numéricas para processamento</a:t>
            </a:r>
          </a:p>
          <a:p>
            <a:pPr marL="0" indent="0">
              <a:lnSpc>
                <a:spcPts val="2200"/>
              </a:lnSpc>
              <a:spcBef>
                <a:spcPts val="600"/>
              </a:spcBef>
              <a:buNone/>
            </a:pPr>
            <a:r>
              <a:rPr lang="pt-BR" sz="1600" b="1" dirty="0">
                <a:solidFill>
                  <a:srgbClr val="00CEC9"/>
                </a:solidFill>
              </a:rPr>
              <a:t>Etapas fundamentais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pt-BR" sz="1400" b="1" dirty="0">
                <a:solidFill>
                  <a:srgbClr val="FDCB6E"/>
                </a:solidFill>
              </a:rPr>
              <a:t>Amostragem</a:t>
            </a:r>
            <a:r>
              <a:rPr lang="pt-BR" sz="1400" dirty="0">
                <a:solidFill>
                  <a:srgbClr val="D0D0E0"/>
                </a:solidFill>
              </a:rPr>
              <a:t> → Discretização no tempo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pt-BR" sz="1400" b="1" dirty="0">
                <a:solidFill>
                  <a:srgbClr val="FDCB6E"/>
                </a:solidFill>
              </a:rPr>
              <a:t>Quantização</a:t>
            </a:r>
            <a:r>
              <a:rPr lang="pt-BR" sz="1400" dirty="0">
                <a:solidFill>
                  <a:srgbClr val="D0D0E0"/>
                </a:solidFill>
              </a:rPr>
              <a:t> → Discretização em amplitude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pt-BR" sz="1400" b="1" dirty="0">
                <a:solidFill>
                  <a:srgbClr val="FDCB6E"/>
                </a:solidFill>
              </a:rPr>
              <a:t>Processamento</a:t>
            </a:r>
            <a:r>
              <a:rPr lang="pt-BR" sz="1400" dirty="0">
                <a:solidFill>
                  <a:srgbClr val="D0D0E0"/>
                </a:solidFill>
              </a:rPr>
              <a:t> → Filtragem, análise, transformação</a:t>
            </a:r>
          </a:p>
          <a:p>
            <a:pPr marL="0" indent="0">
              <a:lnSpc>
                <a:spcPts val="2200"/>
              </a:lnSpc>
              <a:spcBef>
                <a:spcPts val="600"/>
              </a:spcBef>
              <a:buNone/>
            </a:pPr>
            <a:r>
              <a:rPr lang="pt-BR" sz="1600" b="1" dirty="0">
                <a:solidFill>
                  <a:srgbClr val="FD79A8"/>
                </a:solidFill>
              </a:rPr>
              <a:t>Na ESP32</a:t>
            </a:r>
          </a:p>
          <a:p>
            <a:pPr marL="228600" indent="-228600">
              <a:lnSpc>
                <a:spcPts val="20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ADC de 12 bits, dual-core 240 MHz, suporte a float</a:t>
            </a:r>
          </a:p>
        </p:txBody>
      </p:sp>
    </p:spTree>
    <p:extLst>
      <p:ext uri="{BB962C8B-B14F-4D97-AF65-F5344CB8AC3E}">
        <p14:creationId xmlns:p14="http://schemas.microsoft.com/office/powerpoint/2010/main" val="70723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98FB8-9732-6941-18FD-BABCC65B2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Sinal Analógico vs Sinal Digital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9D0C34-9ABB-2D37-9604-AAE2ACD5A0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800" b="1" dirty="0">
                <a:solidFill>
                  <a:srgbClr val="6C5CE7"/>
                </a:solidFill>
              </a:rPr>
              <a:t>Sinal Analógico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Contínuo no tempo e amplitude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Infinitos valores possíveis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Suscetível a ruído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Ex: onda sonora, temperatura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400" dirty="0">
                <a:solidFill>
                  <a:srgbClr val="B0B0C0"/>
                </a:solidFill>
              </a:rPr>
              <a:t>x(t) ∈ ℝ, t ∈ (-∞, +∞)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A1207F-876E-D15D-2391-DDF13B12DA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800" b="1" dirty="0">
                <a:solidFill>
                  <a:srgbClr val="00CEC9"/>
                </a:solidFill>
              </a:rPr>
              <a:t>Sinal Digital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Discreto no tempo e amplitude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Valores finitos (2ⁿ níveis)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Reprodutível e processável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Ex: ADC da ESP32 (12 bits)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400" dirty="0">
                <a:solidFill>
                  <a:srgbClr val="B0B0C0"/>
                </a:solidFill>
              </a:rPr>
              <a:t>x[n] ∈ {0,...,4095}, n ∈ ℤ</a:t>
            </a:r>
          </a:p>
        </p:txBody>
      </p:sp>
    </p:spTree>
    <p:extLst>
      <p:ext uri="{BB962C8B-B14F-4D97-AF65-F5344CB8AC3E}">
        <p14:creationId xmlns:p14="http://schemas.microsoft.com/office/powerpoint/2010/main" val="2568793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F6585-3B2A-2CCC-2470-35A0E2B4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Amostragem e Teorema de Nyquist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BE0B17-3124-047B-5869-11D425CE0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Teorema de Nyquist-Shannon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Para reconstruir um sinal, a taxa de amostragem deve ser:</a:t>
            </a:r>
          </a:p>
          <a:p>
            <a:pPr marL="0" indent="0" algn="ctr">
              <a:lnSpc>
                <a:spcPts val="2400"/>
              </a:lnSpc>
              <a:spcBef>
                <a:spcPts val="300"/>
              </a:spcBef>
              <a:buNone/>
            </a:pPr>
            <a:r>
              <a:rPr lang="pt-BR" sz="2000" b="1" dirty="0">
                <a:solidFill>
                  <a:srgbClr val="00CEC9"/>
                </a:solidFill>
              </a:rPr>
              <a:t>f</a:t>
            </a:r>
            <a:r>
              <a:rPr lang="pt-BR" sz="1400" b="1" baseline="-25000" dirty="0">
                <a:solidFill>
                  <a:srgbClr val="00CEC9"/>
                </a:solidFill>
              </a:rPr>
              <a:t>s</a:t>
            </a:r>
            <a:r>
              <a:rPr lang="pt-BR" sz="2000" b="1" dirty="0">
                <a:solidFill>
                  <a:srgbClr val="00CEC9"/>
                </a:solidFill>
              </a:rPr>
              <a:t> ≥ 2 × f</a:t>
            </a:r>
            <a:r>
              <a:rPr lang="pt-BR" sz="1400" b="1" baseline="-25000" dirty="0">
                <a:solidFill>
                  <a:srgbClr val="00CEC9"/>
                </a:solidFill>
              </a:rPr>
              <a:t>max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FD79A8"/>
                </a:solidFill>
              </a:rPr>
              <a:t>Exemplo prático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Sinal de áudio até 20 kHz → f</a:t>
            </a:r>
            <a:r>
              <a:rPr lang="pt-BR" sz="1100" baseline="-25000" dirty="0">
                <a:solidFill>
                  <a:srgbClr val="D0D0E0"/>
                </a:solidFill>
              </a:rPr>
              <a:t>s</a:t>
            </a:r>
            <a:r>
              <a:rPr lang="pt-BR" sz="1400" dirty="0">
                <a:solidFill>
                  <a:srgbClr val="D0D0E0"/>
                </a:solidFill>
              </a:rPr>
              <a:t> ≥ 40 kHz (CD usa 44.1 kHz)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ESP32: ADC pode amostrar até ~6 kHz (modo padrão) ou ~2 MHz (DMA)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FDCB6E"/>
                </a:solidFill>
              </a:rPr>
              <a:t>Aliasing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Se f</a:t>
            </a:r>
            <a:r>
              <a:rPr lang="pt-BR" sz="1100" baseline="-25000" dirty="0">
                <a:solidFill>
                  <a:srgbClr val="D0D0E0"/>
                </a:solidFill>
              </a:rPr>
              <a:t>s</a:t>
            </a:r>
            <a:r>
              <a:rPr lang="pt-BR" sz="1400" dirty="0">
                <a:solidFill>
                  <a:srgbClr val="D0D0E0"/>
                </a:solidFill>
              </a:rPr>
              <a:t> &lt; 2×f</a:t>
            </a:r>
            <a:r>
              <a:rPr lang="pt-BR" sz="1100" baseline="-25000" dirty="0">
                <a:solidFill>
                  <a:srgbClr val="D0D0E0"/>
                </a:solidFill>
              </a:rPr>
              <a:t>max</a:t>
            </a:r>
            <a:r>
              <a:rPr lang="pt-BR" sz="1400" dirty="0">
                <a:solidFill>
                  <a:srgbClr val="D0D0E0"/>
                </a:solidFill>
              </a:rPr>
              <a:t> → frequências se sobrepõem (aliasing)</a:t>
            </a:r>
          </a:p>
        </p:txBody>
      </p:sp>
    </p:spTree>
    <p:extLst>
      <p:ext uri="{BB962C8B-B14F-4D97-AF65-F5344CB8AC3E}">
        <p14:creationId xmlns:p14="http://schemas.microsoft.com/office/powerpoint/2010/main" val="45326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F215E-0235-F5E3-8B4D-46AABA2F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Quantização e Resolução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8B053B-7318-9914-3C1F-660AA0A14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Conceito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Mapeamento de valores contínuos para níveis discretos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Introduç erro de quantização (inevitável)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00CEC9"/>
                </a:solidFill>
              </a:rPr>
              <a:t>Resolução na ESP32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ADC de </a:t>
            </a:r>
            <a:r>
              <a:rPr lang="pt-BR" sz="1400" b="1" dirty="0">
                <a:solidFill>
                  <a:srgbClr val="FDCB6E"/>
                </a:solidFill>
              </a:rPr>
              <a:t>12 bits</a:t>
            </a:r>
            <a:r>
              <a:rPr lang="pt-BR" sz="1400" dirty="0">
                <a:solidFill>
                  <a:srgbClr val="D0D0E0"/>
                </a:solidFill>
              </a:rPr>
              <a:t> → 2¹² = </a:t>
            </a:r>
            <a:r>
              <a:rPr lang="pt-BR" sz="1400" b="1" dirty="0">
                <a:solidFill>
                  <a:srgbClr val="FDCB6E"/>
                </a:solidFill>
              </a:rPr>
              <a:t>4096 níveis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Faixa: 0 a 3.3V → Resolução = 3.3V / 4096 ≈ </a:t>
            </a:r>
            <a:r>
              <a:rPr lang="pt-BR" sz="1400" b="1" dirty="0">
                <a:solidFill>
                  <a:srgbClr val="55EFC4"/>
                </a:solidFill>
              </a:rPr>
              <a:t>0.806 mV/bit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FD79A8"/>
                </a:solidFill>
              </a:rPr>
              <a:t>Erro de quantização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Erro máximo = ±½ LSB = ±0.403 mV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SNR teórica = 6.02×N + 1.76 dB = </a:t>
            </a:r>
            <a:r>
              <a:rPr lang="pt-BR" sz="1400" b="1" dirty="0">
                <a:solidFill>
                  <a:srgbClr val="55EFC4"/>
                </a:solidFill>
              </a:rPr>
              <a:t>74 dB</a:t>
            </a:r>
            <a:r>
              <a:rPr lang="pt-BR" sz="1400" dirty="0">
                <a:solidFill>
                  <a:srgbClr val="D0D0E0"/>
                </a:solidFill>
              </a:rPr>
              <a:t> (12 bits)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Na prática, ESP32 atinge ~9-10 bits efetivos (ENOB)</a:t>
            </a:r>
          </a:p>
        </p:txBody>
      </p:sp>
    </p:spTree>
    <p:extLst>
      <p:ext uri="{BB962C8B-B14F-4D97-AF65-F5344CB8AC3E}">
        <p14:creationId xmlns:p14="http://schemas.microsoft.com/office/powerpoint/2010/main" val="4128478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FFE09-8E6B-33ED-EE9E-E88DA4DE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1800" dirty="0">
                <a:solidFill>
                  <a:srgbClr val="00CEC9"/>
                </a:solidFill>
              </a:rPr>
              <a:t>02</a:t>
            </a:r>
          </a:p>
          <a:p>
            <a:pPr algn="l">
              <a:buNone/>
            </a:pPr>
            <a:r>
              <a:rPr lang="pt-BR" sz="3600" b="1" dirty="0">
                <a:solidFill>
                  <a:srgbClr val="F0F0F5"/>
                </a:solidFill>
              </a:rPr>
              <a:t>Aquisição de Sinais na ESP32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AC4D03-6E09-B9AD-48D4-807A48097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pt-BR" sz="1600" dirty="0">
                <a:solidFill>
                  <a:srgbClr val="B0B0C0"/>
                </a:solidFill>
              </a:rPr>
              <a:t>ADC, taxa de amostragem, sincronização e DMA</a:t>
            </a:r>
          </a:p>
        </p:txBody>
      </p:sp>
    </p:spTree>
    <p:extLst>
      <p:ext uri="{BB962C8B-B14F-4D97-AF65-F5344CB8AC3E}">
        <p14:creationId xmlns:p14="http://schemas.microsoft.com/office/powerpoint/2010/main" val="2314607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86C2D-A7C1-6505-A00E-AE0C4422B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ADC da ESP32 — Revisão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404410-3488-8E16-4B65-9E7B7B552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Características do ADC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2 unidades ADC (ADC1: 8 canais, ADC2: 10 canais)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Resolução: 12 bits (configurável 9-12 bits)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Atenuação configurável: 0 dB, 2.5 dB, 6 dB, 11 dB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00CEC9"/>
                </a:solidFill>
              </a:rPr>
              <a:t>Taxa de Amostragem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analogRead(): ~100 μs/leitura ≈ </a:t>
            </a:r>
            <a:r>
              <a:rPr lang="pt-BR" sz="1400" b="1" dirty="0">
                <a:solidFill>
                  <a:srgbClr val="FDCB6E"/>
                </a:solidFill>
              </a:rPr>
              <a:t>~6 kSPS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Modo I2S + DMA: até </a:t>
            </a:r>
            <a:r>
              <a:rPr lang="pt-BR" sz="1400" b="1" dirty="0">
                <a:solidFill>
                  <a:srgbClr val="FDCB6E"/>
                </a:solidFill>
              </a:rPr>
              <a:t>~2 MSPS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Modo contínuo via driver adc_continuous: controle preciso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FD79A8"/>
                </a:solidFill>
              </a:rPr>
              <a:t>Sincronização de amostras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Usar timers de hardware para intervalo fixo entre amostras</a:t>
            </a:r>
          </a:p>
        </p:txBody>
      </p:sp>
    </p:spTree>
    <p:extLst>
      <p:ext uri="{BB962C8B-B14F-4D97-AF65-F5344CB8AC3E}">
        <p14:creationId xmlns:p14="http://schemas.microsoft.com/office/powerpoint/2010/main" val="49387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300E0-9117-EB59-E730-763B66EF3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DMA e Aquisição Contínua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B2E7DB-DC34-1E0A-5D06-E7F9B11EA2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800" b="1" dirty="0">
                <a:solidFill>
                  <a:srgbClr val="6C5CE7"/>
                </a:solidFill>
              </a:rPr>
              <a:t>O que é DMA?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Direct Memory Access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Transfere dados ADC → RAM sem CPU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CPU livre para processamento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Ideal para DSP em tempo real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FD79A8"/>
                </a:solidFill>
              </a:rPr>
              <a:t>Vantagens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Taxa constante de amostragem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Zero jitter de software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534978-25DA-5533-23EB-963E34BC07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800" b="1" dirty="0">
                <a:solidFill>
                  <a:srgbClr val="00CEC9"/>
                </a:solidFill>
              </a:rPr>
              <a:t>Configuração</a:t>
            </a:r>
          </a:p>
          <a:p>
            <a:pPr marL="0" indent="0">
              <a:lnSpc>
                <a:spcPts val="1600"/>
              </a:lnSpc>
              <a:spcBef>
                <a:spcPts val="200"/>
              </a:spcBef>
              <a:buNone/>
            </a:pPr>
            <a:r>
              <a:rPr lang="pt-BR" sz="1200" dirty="0">
                <a:solidFill>
                  <a:srgbClr val="55EFC4"/>
                </a:solidFill>
                <a:latin typeface="Consolas"/>
              </a:rPr>
              <a:t>adc_continuous_handle_t h;</a:t>
            </a:r>
          </a:p>
          <a:p>
            <a:pPr marL="0" indent="0">
              <a:lnSpc>
                <a:spcPts val="1600"/>
              </a:lnSpc>
              <a:buNone/>
            </a:pPr>
            <a:r>
              <a:rPr lang="pt-BR" sz="1200" dirty="0">
                <a:solidFill>
                  <a:srgbClr val="55EFC4"/>
                </a:solidFill>
                <a:latin typeface="Consolas"/>
              </a:rPr>
              <a:t>adc_continuous_config_t cfg;</a:t>
            </a:r>
          </a:p>
          <a:p>
            <a:pPr marL="0" indent="0">
              <a:lnSpc>
                <a:spcPts val="1600"/>
              </a:lnSpc>
              <a:buNone/>
            </a:pPr>
            <a:r>
              <a:rPr lang="pt-BR" sz="1200" dirty="0">
                <a:solidFill>
                  <a:srgbClr val="55EFC4"/>
                </a:solidFill>
                <a:latin typeface="Consolas"/>
              </a:rPr>
              <a:t>cfg.sample_freq_hz = 20000;</a:t>
            </a:r>
          </a:p>
          <a:p>
            <a:pPr marL="0" indent="0">
              <a:lnSpc>
                <a:spcPts val="1600"/>
              </a:lnSpc>
              <a:buNone/>
            </a:pPr>
            <a:r>
              <a:rPr lang="pt-BR" sz="1200" dirty="0">
                <a:solidFill>
                  <a:srgbClr val="55EFC4"/>
                </a:solidFill>
                <a:latin typeface="Consolas"/>
              </a:rPr>
              <a:t>cfg.conv_mode = SINGLE;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FDCB6E"/>
                </a:solidFill>
              </a:rPr>
              <a:t>Fluxo DMA</a:t>
            </a:r>
          </a:p>
          <a:p>
            <a:pPr marL="0" indent="0">
              <a:lnSpc>
                <a:spcPts val="1800"/>
              </a:lnSpc>
              <a:buNone/>
            </a:pPr>
            <a:r>
              <a:rPr lang="pt-BR" sz="1400" dirty="0">
                <a:solidFill>
                  <a:srgbClr val="D0D0E0"/>
                </a:solidFill>
              </a:rPr>
              <a:t>ADC → Buffer DMA → RAM</a:t>
            </a:r>
          </a:p>
          <a:p>
            <a:pPr marL="0" indent="0">
              <a:lnSpc>
                <a:spcPts val="1800"/>
              </a:lnSpc>
              <a:buNone/>
            </a:pPr>
            <a:r>
              <a:rPr lang="pt-BR" sz="1400" dirty="0">
                <a:solidFill>
                  <a:srgbClr val="D0D0E0"/>
                </a:solidFill>
              </a:rPr>
              <a:t>→ CPU processa bloco</a:t>
            </a:r>
          </a:p>
          <a:p>
            <a:pPr marL="0" indent="0">
              <a:lnSpc>
                <a:spcPts val="1800"/>
              </a:lnSpc>
              <a:buNone/>
            </a:pPr>
            <a:r>
              <a:rPr lang="pt-BR" sz="1400" dirty="0">
                <a:solidFill>
                  <a:srgbClr val="D0D0E0"/>
                </a:solidFill>
              </a:rPr>
              <a:t>→ Resultado (filtro/FFT)</a:t>
            </a:r>
          </a:p>
        </p:txBody>
      </p:sp>
    </p:spTree>
    <p:extLst>
      <p:ext uri="{BB962C8B-B14F-4D97-AF65-F5344CB8AC3E}">
        <p14:creationId xmlns:p14="http://schemas.microsoft.com/office/powerpoint/2010/main" val="590355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21C1B-39E3-CF8C-D3E0-DF6EB6A1D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Domínio do Tempo vs Frequência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93E68B-03F5-AAE7-B682-9D140B2FC9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800" b="1" dirty="0">
                <a:solidFill>
                  <a:srgbClr val="6C5CE7"/>
                </a:solidFill>
              </a:rPr>
              <a:t>Domínio do Tempo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Amplitude vs tempo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Visão direta da forma de onda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Ideal para: picos, transições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Gráfico: x[n] vs n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400" i="1" dirty="0">
                <a:solidFill>
                  <a:srgbClr val="B0B0C0"/>
                </a:solidFill>
              </a:rPr>
              <a:t>“Quando algo aconteceu?”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729F16-F184-B928-56D1-2859646CA5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800" b="1" dirty="0">
                <a:solidFill>
                  <a:srgbClr val="00CEC9"/>
                </a:solidFill>
              </a:rPr>
              <a:t>Domínio da Frequência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Magnitude vs frequência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Revela componentes ocultas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Ideal para: ruído, harmmônicas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Gráfico: |X(f)| vs f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400" i="1" dirty="0">
                <a:solidFill>
                  <a:srgbClr val="B0B0C0"/>
                </a:solidFill>
              </a:rPr>
              <a:t>“Quais frequências estão presentes?”</a:t>
            </a:r>
          </a:p>
        </p:txBody>
      </p:sp>
    </p:spTree>
    <p:extLst>
      <p:ext uri="{BB962C8B-B14F-4D97-AF65-F5344CB8AC3E}">
        <p14:creationId xmlns:p14="http://schemas.microsoft.com/office/powerpoint/2010/main" val="1956596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EB4B6-AD6C-94EA-4457-0D21AC38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Ruído e Pré-processamento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A654EE-850F-3C5B-D05C-75347A0AA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Tipos de ruído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b="1" dirty="0">
                <a:solidFill>
                  <a:srgbClr val="FDCB6E"/>
                </a:solidFill>
              </a:rPr>
              <a:t>Ruído branco:</a:t>
            </a:r>
            <a:r>
              <a:rPr lang="pt-BR" sz="1400" dirty="0">
                <a:solidFill>
                  <a:srgbClr val="D0D0E0"/>
                </a:solidFill>
              </a:rPr>
              <a:t> distribuição uniforme em todas as frequências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b="1" dirty="0">
                <a:solidFill>
                  <a:srgbClr val="FDCB6E"/>
                </a:solidFill>
              </a:rPr>
              <a:t>Ruído rosa (1/f):</a:t>
            </a:r>
            <a:r>
              <a:rPr lang="pt-BR" sz="1400" dirty="0">
                <a:solidFill>
                  <a:srgbClr val="D0D0E0"/>
                </a:solidFill>
              </a:rPr>
              <a:t> mais energia em baixas frequências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b="1" dirty="0">
                <a:solidFill>
                  <a:srgbClr val="FDCB6E"/>
                </a:solidFill>
              </a:rPr>
              <a:t>Interferência (50/60 Hz):</a:t>
            </a:r>
            <a:r>
              <a:rPr lang="pt-BR" sz="1400" dirty="0">
                <a:solidFill>
                  <a:srgbClr val="D0D0E0"/>
                </a:solidFill>
              </a:rPr>
              <a:t> rede elétrica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00CEC9"/>
                </a:solidFill>
              </a:rPr>
              <a:t>Remoção de offset DC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Subtrair média: x̂[n] = x[n] − μ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Centraliza sinal em torno de zero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FD79A8"/>
                </a:solidFill>
              </a:rPr>
              <a:t>Normalização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Escalar para faixa [-1, 1] ou [0, 1]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ESP32: raw / 4095.0 (normaliza para [0,1])</a:t>
            </a:r>
          </a:p>
        </p:txBody>
      </p:sp>
    </p:spTree>
    <p:extLst>
      <p:ext uri="{BB962C8B-B14F-4D97-AF65-F5344CB8AC3E}">
        <p14:creationId xmlns:p14="http://schemas.microsoft.com/office/powerpoint/2010/main" val="1997135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59A79-1BA5-9A3D-65AB-6F5FB4AB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1800" dirty="0">
                <a:solidFill>
                  <a:srgbClr val="FD79A8"/>
                </a:solidFill>
              </a:rPr>
              <a:t>03</a:t>
            </a:r>
          </a:p>
          <a:p>
            <a:pPr algn="l">
              <a:buNone/>
            </a:pPr>
            <a:r>
              <a:rPr lang="pt-BR" sz="3600" b="1" dirty="0">
                <a:solidFill>
                  <a:srgbClr val="F0F0F5"/>
                </a:solidFill>
              </a:rPr>
              <a:t>Filtros Digitais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2AF276-9DA5-CF7E-F0D6-6E5345C08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pt-BR" sz="1600" dirty="0">
                <a:solidFill>
                  <a:srgbClr val="B0B0C0"/>
                </a:solidFill>
              </a:rPr>
              <a:t>FIR, IIR, média móvel e filtro exponencial</a:t>
            </a:r>
          </a:p>
        </p:txBody>
      </p:sp>
    </p:spTree>
    <p:extLst>
      <p:ext uri="{BB962C8B-B14F-4D97-AF65-F5344CB8AC3E}">
        <p14:creationId xmlns:p14="http://schemas.microsoft.com/office/powerpoint/2010/main" val="3594411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ABB0E-13CA-648D-0194-B608AAC72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Filtro FIR — Finite Impulse Response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5BB056-0E58-E8CB-9DB5-0244F16E6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Conceito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Saída depende apenas das entradas (sem feedback)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Resposta ao impulso finita (N coeficientes)</a:t>
            </a:r>
          </a:p>
          <a:p>
            <a:pPr marL="0" indent="0" algn="ctr">
              <a:lnSpc>
                <a:spcPts val="2400"/>
              </a:lnSpc>
              <a:spcBef>
                <a:spcPts val="400"/>
              </a:spcBef>
              <a:buNone/>
            </a:pPr>
            <a:r>
              <a:rPr lang="pt-BR" sz="1800" b="1" dirty="0">
                <a:solidFill>
                  <a:srgbClr val="00CEC9"/>
                </a:solidFill>
              </a:rPr>
              <a:t>y[n] = ∑ b</a:t>
            </a:r>
            <a:r>
              <a:rPr lang="pt-BR" sz="1200" b="1" baseline="-25000" dirty="0">
                <a:solidFill>
                  <a:srgbClr val="00CEC9"/>
                </a:solidFill>
              </a:rPr>
              <a:t>k</a:t>
            </a:r>
            <a:r>
              <a:rPr lang="pt-BR" sz="1800" b="1" dirty="0">
                <a:solidFill>
                  <a:srgbClr val="00CEC9"/>
                </a:solidFill>
              </a:rPr>
              <a:t> · x[n−k]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55EFC4"/>
                </a:solidFill>
              </a:rPr>
              <a:t>Características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Sempre estável (sem pólos)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Fase linear possível (coefs simétricos)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Complexidade: </a:t>
            </a:r>
            <a:r>
              <a:rPr lang="pt-BR" sz="1400" b="1" dirty="0">
                <a:solidFill>
                  <a:srgbClr val="FDCB6E"/>
                </a:solidFill>
              </a:rPr>
              <a:t>O(N)</a:t>
            </a:r>
            <a:r>
              <a:rPr lang="pt-BR" sz="1400" dirty="0">
                <a:solidFill>
                  <a:srgbClr val="D0D0E0"/>
                </a:solidFill>
              </a:rPr>
              <a:t> por amostra (N multiplicações + N somas)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Maior N = melhor seletividade, mais CPU</a:t>
            </a:r>
          </a:p>
        </p:txBody>
      </p:sp>
    </p:spTree>
    <p:extLst>
      <p:ext uri="{BB962C8B-B14F-4D97-AF65-F5344CB8AC3E}">
        <p14:creationId xmlns:p14="http://schemas.microsoft.com/office/powerpoint/2010/main" val="983549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EF8B3-C668-E07E-BC84-359F6D655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Filtro IIR — Infinite Impulse Response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C1B339-B34B-06EF-755B-5A35CA5A4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Conceito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Saída depende de entradas </a:t>
            </a:r>
            <a:r>
              <a:rPr lang="pt-BR" sz="1400" b="1" dirty="0">
                <a:solidFill>
                  <a:srgbClr val="FD79A8"/>
                </a:solidFill>
              </a:rPr>
              <a:t>e saídas anteriores</a:t>
            </a:r>
            <a:r>
              <a:rPr lang="pt-BR" sz="1400" dirty="0">
                <a:solidFill>
                  <a:srgbClr val="D0D0E0"/>
                </a:solidFill>
              </a:rPr>
              <a:t> (feedback)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Resposta ao impulso teoricamente infinita</a:t>
            </a:r>
          </a:p>
          <a:p>
            <a:pPr marL="0" indent="0" algn="ctr">
              <a:lnSpc>
                <a:spcPts val="2400"/>
              </a:lnSpc>
              <a:spcBef>
                <a:spcPts val="400"/>
              </a:spcBef>
              <a:buNone/>
            </a:pPr>
            <a:r>
              <a:rPr lang="pt-BR" sz="1800" b="1" dirty="0">
                <a:solidFill>
                  <a:srgbClr val="00CEC9"/>
                </a:solidFill>
              </a:rPr>
              <a:t>y[n] = ∑ b</a:t>
            </a:r>
            <a:r>
              <a:rPr lang="pt-BR" sz="1200" b="1" baseline="-25000" dirty="0">
                <a:solidFill>
                  <a:srgbClr val="00CEC9"/>
                </a:solidFill>
              </a:rPr>
              <a:t>k</a:t>
            </a:r>
            <a:r>
              <a:rPr lang="pt-BR" sz="1800" b="1" dirty="0">
                <a:solidFill>
                  <a:srgbClr val="00CEC9"/>
                </a:solidFill>
              </a:rPr>
              <a:t>x[n−k] − ∑ a</a:t>
            </a:r>
            <a:r>
              <a:rPr lang="pt-BR" sz="1200" b="1" baseline="-25000" dirty="0">
                <a:solidFill>
                  <a:srgbClr val="00CEC9"/>
                </a:solidFill>
              </a:rPr>
              <a:t>k</a:t>
            </a:r>
            <a:r>
              <a:rPr lang="pt-BR" sz="1800" b="1" dirty="0">
                <a:solidFill>
                  <a:srgbClr val="00CEC9"/>
                </a:solidFill>
              </a:rPr>
              <a:t>y[n−k]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55EFC4"/>
                </a:solidFill>
              </a:rPr>
              <a:t>Características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Muito mais eficiente que FIR (menos coeficientes)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Pode ser </a:t>
            </a:r>
            <a:r>
              <a:rPr lang="pt-BR" sz="1400" b="1" dirty="0">
                <a:solidFill>
                  <a:srgbClr val="FD79A8"/>
                </a:solidFill>
              </a:rPr>
              <a:t>instável</a:t>
            </a:r>
            <a:r>
              <a:rPr lang="pt-BR" sz="1400" dirty="0">
                <a:solidFill>
                  <a:srgbClr val="D0D0E0"/>
                </a:solidFill>
              </a:rPr>
              <a:t> (pólos fora do círculo unitário)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Fase não-linear (distorção de fase)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Ideal para ESP32: menos operações por amostra</a:t>
            </a:r>
          </a:p>
        </p:txBody>
      </p:sp>
    </p:spTree>
    <p:extLst>
      <p:ext uri="{BB962C8B-B14F-4D97-AF65-F5344CB8AC3E}">
        <p14:creationId xmlns:p14="http://schemas.microsoft.com/office/powerpoint/2010/main" val="853093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8DE4C-0DF0-2973-F067-D9DF01350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FIR vs IIR — Comparação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DBB006-5B90-AB17-7DB2-28AE6A5D7F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ts val="1900"/>
              </a:lnSpc>
              <a:buNone/>
            </a:pPr>
            <a:r>
              <a:rPr lang="pt-BR" sz="1800" b="1" dirty="0">
                <a:solidFill>
                  <a:srgbClr val="6C5CE7"/>
                </a:solidFill>
              </a:rPr>
              <a:t>FIR</a:t>
            </a:r>
          </a:p>
          <a:p>
            <a:pPr marL="228600" indent="-228600">
              <a:lnSpc>
                <a:spcPts val="1700"/>
              </a:lnSpc>
              <a:buFont typeface="Arial"/>
              <a:buChar char="✓"/>
            </a:pPr>
            <a:r>
              <a:rPr lang="pt-BR" sz="1400" dirty="0">
                <a:solidFill>
                  <a:srgbClr val="55EFC4"/>
                </a:solidFill>
              </a:rPr>
              <a:t>Sempre estável</a:t>
            </a:r>
          </a:p>
          <a:p>
            <a:pPr marL="228600" indent="-228600">
              <a:lnSpc>
                <a:spcPts val="1700"/>
              </a:lnSpc>
              <a:buFont typeface="Arial"/>
              <a:buChar char="✓"/>
            </a:pPr>
            <a:r>
              <a:rPr lang="pt-BR" sz="1400" dirty="0">
                <a:solidFill>
                  <a:srgbClr val="55EFC4"/>
                </a:solidFill>
              </a:rPr>
              <a:t>Fase linear</a:t>
            </a:r>
          </a:p>
          <a:p>
            <a:pPr marL="228600" indent="-228600">
              <a:lnSpc>
                <a:spcPts val="1700"/>
              </a:lnSpc>
              <a:buFont typeface="Arial"/>
              <a:buChar char="✓"/>
            </a:pPr>
            <a:r>
              <a:rPr lang="pt-BR" sz="1400" dirty="0">
                <a:solidFill>
                  <a:srgbClr val="55EFC4"/>
                </a:solidFill>
              </a:rPr>
              <a:t>Simples de projetar</a:t>
            </a:r>
          </a:p>
          <a:p>
            <a:pPr marL="228600" indent="-228600">
              <a:lnSpc>
                <a:spcPts val="1700"/>
              </a:lnSpc>
              <a:buFont typeface="Arial"/>
              <a:buChar char="✗"/>
            </a:pPr>
            <a:r>
              <a:rPr lang="pt-BR" sz="1400" dirty="0">
                <a:solidFill>
                  <a:srgbClr val="FD79A8"/>
                </a:solidFill>
              </a:rPr>
              <a:t>Muitos coeficientes</a:t>
            </a:r>
          </a:p>
          <a:p>
            <a:pPr marL="228600" indent="-228600">
              <a:lnSpc>
                <a:spcPts val="1700"/>
              </a:lnSpc>
              <a:buFont typeface="Arial"/>
              <a:buChar char="✗"/>
            </a:pPr>
            <a:r>
              <a:rPr lang="pt-BR" sz="1400" dirty="0">
                <a:solidFill>
                  <a:srgbClr val="FD79A8"/>
                </a:solidFill>
              </a:rPr>
              <a:t>Mais memória e CPU</a:t>
            </a:r>
          </a:p>
          <a:p>
            <a:pPr marL="228600" indent="-228600">
              <a:lnSpc>
                <a:spcPts val="1700"/>
              </a:lnSpc>
              <a:buFont typeface="Arial"/>
              <a:buChar char="✗"/>
            </a:pPr>
            <a:r>
              <a:rPr lang="pt-BR" sz="1400" dirty="0">
                <a:solidFill>
                  <a:srgbClr val="FD79A8"/>
                </a:solidFill>
              </a:rPr>
              <a:t>Maior latência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3644FB-3447-551B-51F3-9A08F436EA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ts val="1900"/>
              </a:lnSpc>
              <a:buNone/>
            </a:pPr>
            <a:r>
              <a:rPr lang="pt-BR" sz="1800" b="1" dirty="0">
                <a:solidFill>
                  <a:srgbClr val="00CEC9"/>
                </a:solidFill>
              </a:rPr>
              <a:t>IIR</a:t>
            </a:r>
          </a:p>
          <a:p>
            <a:pPr marL="228600" indent="-228600">
              <a:lnSpc>
                <a:spcPts val="1700"/>
              </a:lnSpc>
              <a:buFont typeface="Arial"/>
              <a:buChar char="✓"/>
            </a:pPr>
            <a:r>
              <a:rPr lang="pt-BR" sz="1400" dirty="0">
                <a:solidFill>
                  <a:srgbClr val="55EFC4"/>
                </a:solidFill>
              </a:rPr>
              <a:t>Muito eficiente (poucos coefs)</a:t>
            </a:r>
          </a:p>
          <a:p>
            <a:pPr marL="228600" indent="-228600">
              <a:lnSpc>
                <a:spcPts val="1700"/>
              </a:lnSpc>
              <a:buFont typeface="Arial"/>
              <a:buChar char="✓"/>
            </a:pPr>
            <a:r>
              <a:rPr lang="pt-BR" sz="1400" dirty="0">
                <a:solidFill>
                  <a:srgbClr val="55EFC4"/>
                </a:solidFill>
              </a:rPr>
              <a:t>Baixa latência</a:t>
            </a:r>
          </a:p>
          <a:p>
            <a:pPr marL="228600" indent="-228600">
              <a:lnSpc>
                <a:spcPts val="1700"/>
              </a:lnSpc>
              <a:buFont typeface="Arial"/>
              <a:buChar char="✓"/>
            </a:pPr>
            <a:r>
              <a:rPr lang="pt-BR" sz="1400" dirty="0">
                <a:solidFill>
                  <a:srgbClr val="55EFC4"/>
                </a:solidFill>
              </a:rPr>
              <a:t>Ideal para embarcados</a:t>
            </a:r>
          </a:p>
          <a:p>
            <a:pPr marL="228600" indent="-228600">
              <a:lnSpc>
                <a:spcPts val="1700"/>
              </a:lnSpc>
              <a:buFont typeface="Arial"/>
              <a:buChar char="✗"/>
            </a:pPr>
            <a:r>
              <a:rPr lang="pt-BR" sz="1400" dirty="0">
                <a:solidFill>
                  <a:srgbClr val="FD79A8"/>
                </a:solidFill>
              </a:rPr>
              <a:t>Pode ser instável</a:t>
            </a:r>
          </a:p>
          <a:p>
            <a:pPr marL="228600" indent="-228600">
              <a:lnSpc>
                <a:spcPts val="1700"/>
              </a:lnSpc>
              <a:buFont typeface="Arial"/>
              <a:buChar char="✗"/>
            </a:pPr>
            <a:r>
              <a:rPr lang="pt-BR" sz="1400" dirty="0">
                <a:solidFill>
                  <a:srgbClr val="FD79A8"/>
                </a:solidFill>
              </a:rPr>
              <a:t>Fase não-linear</a:t>
            </a:r>
          </a:p>
          <a:p>
            <a:pPr marL="228600" indent="-228600">
              <a:lnSpc>
                <a:spcPts val="1700"/>
              </a:lnSpc>
              <a:buFont typeface="Arial"/>
              <a:buChar char="✗"/>
            </a:pPr>
            <a:r>
              <a:rPr lang="pt-BR" sz="1400" dirty="0">
                <a:solidFill>
                  <a:srgbClr val="FD79A8"/>
                </a:solidFill>
              </a:rPr>
              <a:t>Sensível a arredondamento</a:t>
            </a:r>
          </a:p>
        </p:txBody>
      </p:sp>
    </p:spTree>
    <p:extLst>
      <p:ext uri="{BB962C8B-B14F-4D97-AF65-F5344CB8AC3E}">
        <p14:creationId xmlns:p14="http://schemas.microsoft.com/office/powerpoint/2010/main" val="3331805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AAED8-EF58-2454-30F9-A0C4B32A7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Filtro de Média Móvel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85E298-735A-D249-1846-411705012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Conceito — O filtro FIR mais simples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Média das últimas N amostras</a:t>
            </a:r>
          </a:p>
          <a:p>
            <a:pPr marL="0" indent="0" algn="ctr">
              <a:lnSpc>
                <a:spcPts val="2400"/>
              </a:lnSpc>
              <a:spcBef>
                <a:spcPts val="300"/>
              </a:spcBef>
              <a:buNone/>
            </a:pPr>
            <a:r>
              <a:rPr lang="pt-BR" sz="1800" b="1" dirty="0">
                <a:solidFill>
                  <a:srgbClr val="00CEC9"/>
                </a:solidFill>
              </a:rPr>
              <a:t>y[n] = (1/N) ∑ x[n−k],  k=0..N-1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55EFC4"/>
                </a:solidFill>
              </a:rPr>
              <a:t>Implementação ESP32</a:t>
            </a:r>
          </a:p>
          <a:p>
            <a:pPr marL="0" indent="0">
              <a:lnSpc>
                <a:spcPts val="1500"/>
              </a:lnSpc>
              <a:spcBef>
                <a:spcPts val="200"/>
              </a:spcBef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#define N 10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float buf[N]; int idx = 0;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float media_movel(float x) {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  buf[idx] = x;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  idx = (idx+1) % N;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  float s=0;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  for(int i=0;i&lt;N;i++) s+=buf[i];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  return s / N;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535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49C28-ACA4-DD93-B939-2FA8547CE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Filtro Exponencial (EMA)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AEB982-19B5-60E9-1003-45CEB3F8D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Conceito — O filtro IIR mais simples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Atenuação exponencial de amostras passadas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Apenas 1 multiplicação + 1 soma por amostra</a:t>
            </a:r>
          </a:p>
          <a:p>
            <a:pPr marL="0" indent="0" algn="ctr">
              <a:lnSpc>
                <a:spcPts val="2400"/>
              </a:lnSpc>
              <a:spcBef>
                <a:spcPts val="300"/>
              </a:spcBef>
              <a:buNone/>
            </a:pPr>
            <a:r>
              <a:rPr lang="pt-BR" sz="1800" b="1" dirty="0">
                <a:solidFill>
                  <a:srgbClr val="00CEC9"/>
                </a:solidFill>
              </a:rPr>
              <a:t>y[n] = α·x[n] + (1−α)·y[n−1]</a:t>
            </a:r>
          </a:p>
          <a:p>
            <a:pPr marL="0" indent="0">
              <a:lnSpc>
                <a:spcPts val="2000"/>
              </a:lnSpc>
              <a:spcBef>
                <a:spcPts val="300"/>
              </a:spcBef>
              <a:buNone/>
            </a:pPr>
            <a:r>
              <a:rPr lang="pt-BR" sz="1600" b="1" dirty="0">
                <a:solidFill>
                  <a:srgbClr val="FDCB6E"/>
                </a:solidFill>
              </a:rPr>
              <a:t>Parâmetro α (0 &lt; α ≤ 1)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α baixo (0.05) → suavização forte, resposta lenta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α alto (0.9) → pouca suavização, resposta rápida</a:t>
            </a:r>
          </a:p>
          <a:p>
            <a:pPr marL="0" indent="0">
              <a:lnSpc>
                <a:spcPts val="2000"/>
              </a:lnSpc>
              <a:spcBef>
                <a:spcPts val="300"/>
              </a:spcBef>
              <a:buNone/>
            </a:pPr>
            <a:r>
              <a:rPr lang="pt-BR" sz="1600" b="1" dirty="0">
                <a:solidFill>
                  <a:srgbClr val="55EFC4"/>
                </a:solidFill>
              </a:rPr>
              <a:t>Implementação ESP32</a:t>
            </a:r>
          </a:p>
          <a:p>
            <a:pPr marL="0" indent="0">
              <a:lnSpc>
                <a:spcPts val="1500"/>
              </a:lnSpc>
              <a:spcBef>
                <a:spcPts val="200"/>
              </a:spcBef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float alpha = 0.1;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float filtrado = 0;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float ema(float x) {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  filtrado = alpha*x + (1-alpha)*filtrado;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  return filtrado; }</a:t>
            </a:r>
          </a:p>
        </p:txBody>
      </p:sp>
    </p:spTree>
    <p:extLst>
      <p:ext uri="{BB962C8B-B14F-4D97-AF65-F5344CB8AC3E}">
        <p14:creationId xmlns:p14="http://schemas.microsoft.com/office/powerpoint/2010/main" val="1314471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C1B96-0372-C6CB-D6AB-B4200325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Comparação: Média Móvel vs Exponencial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A308CA-114B-8C80-3484-9163896FA1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ts val="1900"/>
              </a:lnSpc>
              <a:buNone/>
            </a:pPr>
            <a:r>
              <a:rPr lang="pt-BR" sz="1800" b="1" dirty="0">
                <a:solidFill>
                  <a:srgbClr val="6C5CE7"/>
                </a:solidFill>
              </a:rPr>
              <a:t>Média Móvel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Tipo: FIR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Memória: </a:t>
            </a:r>
            <a:r>
              <a:rPr lang="pt-BR" sz="1400" b="1" dirty="0">
                <a:solidFill>
                  <a:srgbClr val="FD79A8"/>
                </a:solidFill>
              </a:rPr>
              <a:t>N floats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CPU: N somas + 1 divisão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Latência: N/2 amostras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Suavização: uniforme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Melhor para: sinais estacionários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95439E-4D4E-4194-B651-B067253443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ts val="1900"/>
              </a:lnSpc>
              <a:buNone/>
            </a:pPr>
            <a:r>
              <a:rPr lang="pt-BR" sz="1800" b="1" dirty="0">
                <a:solidFill>
                  <a:srgbClr val="00CEC9"/>
                </a:solidFill>
              </a:rPr>
              <a:t>Exponencial (EMA)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Tipo: IIR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Memória: </a:t>
            </a:r>
            <a:r>
              <a:rPr lang="pt-BR" sz="1400" b="1" dirty="0">
                <a:solidFill>
                  <a:srgbClr val="55EFC4"/>
                </a:solidFill>
              </a:rPr>
              <a:t>1 float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CPU: 1 mult + 1 soma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Latência: mínima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Suavização: exponencial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Melhor para: tempo real, IoT</a:t>
            </a:r>
          </a:p>
        </p:txBody>
      </p:sp>
    </p:spTree>
    <p:extLst>
      <p:ext uri="{BB962C8B-B14F-4D97-AF65-F5344CB8AC3E}">
        <p14:creationId xmlns:p14="http://schemas.microsoft.com/office/powerpoint/2010/main" val="1948532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04358-A891-6AE3-072A-928625C3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1800" dirty="0">
                <a:solidFill>
                  <a:srgbClr val="55EFC4"/>
                </a:solidFill>
              </a:rPr>
              <a:t>04</a:t>
            </a:r>
          </a:p>
          <a:p>
            <a:pPr algn="l">
              <a:buNone/>
            </a:pPr>
            <a:r>
              <a:rPr lang="pt-BR" sz="3600" b="1" dirty="0">
                <a:solidFill>
                  <a:srgbClr val="F0F0F5"/>
                </a:solidFill>
              </a:rPr>
              <a:t>Transformada de Fourier e FFT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2BCAAC-0685-10E9-D70D-67A0A7169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pt-BR" sz="1600" dirty="0">
                <a:solidFill>
                  <a:srgbClr val="B0B0C0"/>
                </a:solidFill>
              </a:rPr>
              <a:t>Decomposição em frequências e análise espectral</a:t>
            </a:r>
          </a:p>
        </p:txBody>
      </p:sp>
    </p:spTree>
    <p:extLst>
      <p:ext uri="{BB962C8B-B14F-4D97-AF65-F5344CB8AC3E}">
        <p14:creationId xmlns:p14="http://schemas.microsoft.com/office/powerpoint/2010/main" val="2137640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E6CF1-D101-2A19-DA4C-65AD9D67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Transformada de Fourier — Conceito Intuitivo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9E6C5A-9544-7A89-2D88-35BF12915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Analogia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Como um prisma separa luz branca em cores (frequências)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Fourier decompõe sinal complexo em ondas senoidais simples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00CEC9"/>
                </a:solidFill>
              </a:rPr>
              <a:t>Matemática (DFT)</a:t>
            </a:r>
          </a:p>
          <a:p>
            <a:pPr marL="0" indent="0" algn="ctr">
              <a:lnSpc>
                <a:spcPts val="2400"/>
              </a:lnSpc>
              <a:spcBef>
                <a:spcPts val="200"/>
              </a:spcBef>
              <a:buNone/>
            </a:pPr>
            <a:r>
              <a:rPr lang="pt-BR" sz="1800" b="1" dirty="0">
                <a:solidFill>
                  <a:srgbClr val="FDCB6E"/>
                </a:solidFill>
              </a:rPr>
              <a:t>X[k] = ∑ x[n] · e</a:t>
            </a:r>
            <a:r>
              <a:rPr lang="pt-BR" sz="1200" b="1" baseline="30000" dirty="0">
                <a:solidFill>
                  <a:srgbClr val="FDCB6E"/>
                </a:solidFill>
              </a:rPr>
              <a:t>−j2πkn/N</a:t>
            </a:r>
          </a:p>
          <a:p>
            <a:pPr marL="228600" indent="-228600">
              <a:lnSpc>
                <a:spcPts val="1800"/>
              </a:lnSpc>
              <a:spcBef>
                <a:spcPts val="200"/>
              </a:spcBef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X[k] = componente na frequência k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|X[k]| = magnitude (potência naquela frequência)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Complexidade DFT: </a:t>
            </a:r>
            <a:r>
              <a:rPr lang="pt-BR" sz="1400" b="1" dirty="0">
                <a:solidFill>
                  <a:srgbClr val="FD79A8"/>
                </a:solidFill>
              </a:rPr>
              <a:t>O(N²)</a:t>
            </a:r>
            <a:r>
              <a:rPr lang="pt-BR" sz="1400" dirty="0">
                <a:solidFill>
                  <a:srgbClr val="D0D0E0"/>
                </a:solidFill>
              </a:rPr>
              <a:t> → impraticável para N grande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55EFC4"/>
                </a:solidFill>
              </a:rPr>
              <a:t>Resolução em frequência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Δf = f</a:t>
            </a:r>
            <a:r>
              <a:rPr lang="pt-BR" sz="1100" baseline="-25000" dirty="0">
                <a:solidFill>
                  <a:srgbClr val="D0D0E0"/>
                </a:solidFill>
              </a:rPr>
              <a:t>s</a:t>
            </a:r>
            <a:r>
              <a:rPr lang="pt-BR" sz="1400" dirty="0">
                <a:solidFill>
                  <a:srgbClr val="D0D0E0"/>
                </a:solidFill>
              </a:rPr>
              <a:t>/N → mais amostras = melhor resolução</a:t>
            </a:r>
          </a:p>
        </p:txBody>
      </p:sp>
    </p:spTree>
    <p:extLst>
      <p:ext uri="{BB962C8B-B14F-4D97-AF65-F5344CB8AC3E}">
        <p14:creationId xmlns:p14="http://schemas.microsoft.com/office/powerpoint/2010/main" val="3355532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0328F-7CEF-D9D0-1FDE-55B0FD34A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FFT — Fast Fourier Transform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081D6E-9EC8-86A3-2B99-EC64CEE59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Por que FFT?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DFT direta: </a:t>
            </a:r>
            <a:r>
              <a:rPr lang="pt-BR" sz="1400" b="1" dirty="0">
                <a:solidFill>
                  <a:srgbClr val="FD79A8"/>
                </a:solidFill>
              </a:rPr>
              <a:t>O(N²)</a:t>
            </a:r>
            <a:r>
              <a:rPr lang="pt-BR" sz="1400" dirty="0">
                <a:solidFill>
                  <a:srgbClr val="D0D0E0"/>
                </a:solidFill>
              </a:rPr>
              <a:t> → N=1024: 1.048.576 operações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FFT (Cooley-Tukey): </a:t>
            </a:r>
            <a:r>
              <a:rPr lang="pt-BR" sz="1400" b="1" dirty="0">
                <a:solidFill>
                  <a:srgbClr val="55EFC4"/>
                </a:solidFill>
              </a:rPr>
              <a:t>O(N log N)</a:t>
            </a:r>
            <a:r>
              <a:rPr lang="pt-BR" sz="1400" dirty="0">
                <a:solidFill>
                  <a:srgbClr val="D0D0E0"/>
                </a:solidFill>
              </a:rPr>
              <a:t> → N=1024: 10.240 operações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Redução de </a:t>
            </a:r>
            <a:r>
              <a:rPr lang="pt-BR" sz="1400" b="1" dirty="0">
                <a:solidFill>
                  <a:srgbClr val="FDCB6E"/>
                </a:solidFill>
              </a:rPr>
              <a:t>~100x</a:t>
            </a:r>
            <a:r>
              <a:rPr lang="pt-BR" sz="1400" dirty="0">
                <a:solidFill>
                  <a:srgbClr val="D0D0E0"/>
                </a:solidFill>
              </a:rPr>
              <a:t> para 1024 pontos!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00CEC9"/>
                </a:solidFill>
              </a:rPr>
              <a:t>Requisitos da FFT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N deve ser potência de 2 (64, 128, 256, 512, 1024...)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Resultado simétrico: apenas N/2 bins são úteis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Freq máxima detectável = f</a:t>
            </a:r>
            <a:r>
              <a:rPr lang="pt-BR" sz="1100" baseline="-25000" dirty="0">
                <a:solidFill>
                  <a:srgbClr val="D0D0E0"/>
                </a:solidFill>
              </a:rPr>
              <a:t>s</a:t>
            </a:r>
            <a:r>
              <a:rPr lang="pt-BR" sz="1400" dirty="0">
                <a:solidFill>
                  <a:srgbClr val="D0D0E0"/>
                </a:solidFill>
              </a:rPr>
              <a:t>/2 (Nyquist)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FD79A8"/>
                </a:solidFill>
              </a:rPr>
              <a:t>Na ESP32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FFT de 1024 pontos: ~2-5ms no ESP32 (240 MHz)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Bibliotecas: arduinoFFT, ESP-DSP (otimizada para ESP32)</a:t>
            </a:r>
          </a:p>
        </p:txBody>
      </p:sp>
    </p:spTree>
    <p:extLst>
      <p:ext uri="{BB962C8B-B14F-4D97-AF65-F5344CB8AC3E}">
        <p14:creationId xmlns:p14="http://schemas.microsoft.com/office/powerpoint/2010/main" val="1284851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7CE20-4680-6ADC-3C2E-667FAB0A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Interpretação do Espectro FFT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4793AF-646C-2D67-727E-AFB544C39B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800" b="1" dirty="0">
                <a:solidFill>
                  <a:srgbClr val="6C5CE7"/>
                </a:solidFill>
              </a:rPr>
              <a:t>Eixo X (Bins)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Cada bin = uma faixa de frequência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f</a:t>
            </a:r>
            <a:r>
              <a:rPr lang="pt-BR" sz="1100" baseline="-25000" dirty="0">
                <a:solidFill>
                  <a:srgbClr val="D0D0E0"/>
                </a:solidFill>
              </a:rPr>
              <a:t>k</a:t>
            </a:r>
            <a:r>
              <a:rPr lang="pt-BR" sz="1400" dirty="0">
                <a:solidFill>
                  <a:srgbClr val="D0D0E0"/>
                </a:solidFill>
              </a:rPr>
              <a:t> = k × (f</a:t>
            </a:r>
            <a:r>
              <a:rPr lang="pt-BR" sz="1100" baseline="-25000" dirty="0">
                <a:solidFill>
                  <a:srgbClr val="D0D0E0"/>
                </a:solidFill>
              </a:rPr>
              <a:t>s</a:t>
            </a:r>
            <a:r>
              <a:rPr lang="pt-BR" sz="1400" dirty="0">
                <a:solidFill>
                  <a:srgbClr val="D0D0E0"/>
                </a:solidFill>
              </a:rPr>
              <a:t> / N)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Bins 0 a N/2 (metade útil)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800" b="1" dirty="0">
                <a:solidFill>
                  <a:srgbClr val="FDCB6E"/>
                </a:solidFill>
              </a:rPr>
              <a:t>Exemplo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N=1024, f</a:t>
            </a:r>
            <a:r>
              <a:rPr lang="pt-BR" sz="1100" baseline="-25000" dirty="0">
                <a:solidFill>
                  <a:srgbClr val="D0D0E0"/>
                </a:solidFill>
              </a:rPr>
              <a:t>s</a:t>
            </a:r>
            <a:r>
              <a:rPr lang="pt-BR" sz="1400" dirty="0">
                <a:solidFill>
                  <a:srgbClr val="D0D0E0"/>
                </a:solidFill>
              </a:rPr>
              <a:t>=10kHz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Δf = 10000/1024 ≈ 9.77 Hz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50761B-F323-0C1F-4A0D-36003C6D75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800" b="1" dirty="0">
                <a:solidFill>
                  <a:srgbClr val="00CEC9"/>
                </a:solidFill>
              </a:rPr>
              <a:t>Eixo Y (Magnitude)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|X[k]| = intensidade da componente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Pico = frequência dominante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Múltiplos picos = harmmônicas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800" b="1" dirty="0">
                <a:solidFill>
                  <a:srgbClr val="FD79A8"/>
                </a:solidFill>
              </a:rPr>
              <a:t>Leitura prática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Bin[0] = componente DC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Bin[N/2] = f</a:t>
            </a:r>
            <a:r>
              <a:rPr lang="pt-BR" sz="1100" baseline="-25000" dirty="0">
                <a:solidFill>
                  <a:srgbClr val="D0D0E0"/>
                </a:solidFill>
              </a:rPr>
              <a:t>s</a:t>
            </a:r>
            <a:r>
              <a:rPr lang="pt-BR" sz="1400" dirty="0">
                <a:solidFill>
                  <a:srgbClr val="D0D0E0"/>
                </a:solidFill>
              </a:rPr>
              <a:t>/2 (Nyquist)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Ignorar bin[0] na busca de pico</a:t>
            </a:r>
          </a:p>
        </p:txBody>
      </p:sp>
    </p:spTree>
    <p:extLst>
      <p:ext uri="{BB962C8B-B14F-4D97-AF65-F5344CB8AC3E}">
        <p14:creationId xmlns:p14="http://schemas.microsoft.com/office/powerpoint/2010/main" val="2163347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0E9A9-011C-30B3-BFC6-EE3BD008D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FFT na ESP32 — Código (arduinoFFT)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E881DC-5EA2-943C-77AA-3324AA646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#include &lt;arduinoFFT.h&gt;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#define SAMPLES 1024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#define SAMPLING_FREQ 10000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double vReal[SAMPLES], vImag[SAMPLES];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ArduinoFFT&lt;double&gt; FFT(vReal, vImag,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  SAMPLES, SAMPLING_FREQ);</a:t>
            </a:r>
          </a:p>
          <a:p>
            <a:pPr marL="0" indent="0">
              <a:lnSpc>
                <a:spcPts val="15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55EFC4"/>
                </a:solidFill>
                <a:latin typeface="Consolas"/>
              </a:rPr>
              <a:t>// 1. Coletar amostras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for(int i=0; i&lt;SAMPLES; i++) {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  vReal[i] = analogRead(34);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  vImag[i] = 0;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  delayMicroseconds(100); }</a:t>
            </a:r>
          </a:p>
          <a:p>
            <a:pPr marL="0" indent="0">
              <a:lnSpc>
                <a:spcPts val="15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55EFC4"/>
                </a:solidFill>
                <a:latin typeface="Consolas"/>
              </a:rPr>
              <a:t>// 2. Janela + FFT + Magnitude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FFT.windowing(FFTWindow::Hamming,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  FFTDirection::Forward);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FFT.compute(FFTDirection::Forward);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FFT.complexToMagnitude();</a:t>
            </a:r>
          </a:p>
          <a:p>
            <a:pPr marL="0" indent="0">
              <a:lnSpc>
                <a:spcPts val="15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55EFC4"/>
                </a:solidFill>
                <a:latin typeface="Consolas"/>
              </a:rPr>
              <a:t>// 3. Frequência dominante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800" dirty="0">
                <a:solidFill>
                  <a:srgbClr val="74B9FF"/>
                </a:solidFill>
                <a:latin typeface="Consolas"/>
              </a:rPr>
              <a:t>double peak = FFT.majorPeak();</a:t>
            </a:r>
          </a:p>
        </p:txBody>
      </p:sp>
    </p:spTree>
    <p:extLst>
      <p:ext uri="{BB962C8B-B14F-4D97-AF65-F5344CB8AC3E}">
        <p14:creationId xmlns:p14="http://schemas.microsoft.com/office/powerpoint/2010/main" val="3582902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B60F4-F9DB-E221-A37E-21A8ED2FF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Identificação de Frequência Dominante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CAB539-D8B8-666C-5067-658637C84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Algoritmo de busca de pico</a:t>
            </a:r>
          </a:p>
          <a:p>
            <a:pPr marL="0" indent="0">
              <a:lnSpc>
                <a:spcPts val="1500"/>
              </a:lnSpc>
              <a:spcBef>
                <a:spcPts val="200"/>
              </a:spcBef>
              <a:buNone/>
            </a:pPr>
            <a:r>
              <a:rPr lang="pt-BR" sz="1100" dirty="0">
                <a:solidFill>
                  <a:srgbClr val="74B9FF"/>
                </a:solidFill>
                <a:latin typeface="Consolas"/>
              </a:rPr>
              <a:t>double peakFreq = 0; double peakVal = 0;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100" dirty="0">
                <a:solidFill>
                  <a:srgbClr val="74B9FF"/>
                </a:solidFill>
                <a:latin typeface="Consolas"/>
              </a:rPr>
              <a:t>for(int i=1; i&lt;SAMPLES/2; i++) {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100" dirty="0">
                <a:solidFill>
                  <a:srgbClr val="74B9FF"/>
                </a:solidFill>
                <a:latin typeface="Consolas"/>
              </a:rPr>
              <a:t>  if(vReal[i] &gt; peakVal) {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100" dirty="0">
                <a:solidFill>
                  <a:srgbClr val="74B9FF"/>
                </a:solidFill>
                <a:latin typeface="Consolas"/>
              </a:rPr>
              <a:t>    peakVal = vReal[i];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100" dirty="0">
                <a:solidFill>
                  <a:srgbClr val="74B9FF"/>
                </a:solidFill>
                <a:latin typeface="Consolas"/>
              </a:rPr>
              <a:t>    peakFreq = i * (SAMPLING_FREQ/SAMPLES);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100" dirty="0">
                <a:solidFill>
                  <a:srgbClr val="74B9FF"/>
                </a:solidFill>
                <a:latin typeface="Consolas"/>
              </a:rPr>
              <a:t>  }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100" dirty="0">
                <a:solidFill>
                  <a:srgbClr val="74B9FF"/>
                </a:solidFill>
                <a:latin typeface="Consolas"/>
              </a:rPr>
              <a:t>}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00CEC9"/>
                </a:solidFill>
              </a:rPr>
              <a:t>Fluxo completo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1. Coletar N amostras do ADC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2. Aplicar janela (Hamming/Hanning)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3. Executar FFT → complexToMagnitude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4. Buscar pico no espectro (ignorar bin[0])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5. Converter bin → frequência em Hz</a:t>
            </a:r>
          </a:p>
        </p:txBody>
      </p:sp>
    </p:spTree>
    <p:extLst>
      <p:ext uri="{BB962C8B-B14F-4D97-AF65-F5344CB8AC3E}">
        <p14:creationId xmlns:p14="http://schemas.microsoft.com/office/powerpoint/2010/main" val="2531310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E7CDB-F0BD-602C-1472-DC9158E6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1800" dirty="0">
                <a:solidFill>
                  <a:srgbClr val="FDCB6E"/>
                </a:solidFill>
              </a:rPr>
              <a:t>05</a:t>
            </a:r>
          </a:p>
          <a:p>
            <a:pPr algn="l">
              <a:buNone/>
            </a:pPr>
            <a:r>
              <a:rPr lang="pt-BR" sz="3600" b="1" dirty="0">
                <a:solidFill>
                  <a:srgbClr val="F0F0F5"/>
                </a:solidFill>
              </a:rPr>
              <a:t>Otimização de DSP na ESP32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1F6DF1-E3B7-69F6-A42B-F0FFE9700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pt-BR" sz="1600" dirty="0">
                <a:solidFill>
                  <a:srgbClr val="B0B0C0"/>
                </a:solidFill>
              </a:rPr>
              <a:t>DMA, buffers circulares, fixed-point e bibliotecas otimizadas</a:t>
            </a:r>
          </a:p>
        </p:txBody>
      </p:sp>
    </p:spTree>
    <p:extLst>
      <p:ext uri="{BB962C8B-B14F-4D97-AF65-F5344CB8AC3E}">
        <p14:creationId xmlns:p14="http://schemas.microsoft.com/office/powerpoint/2010/main" val="2416732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29280-472D-F690-2413-29A56206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Biblioteca ESP-DSP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DB55B4-F814-9E8A-1189-56089A867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Biblioteca oficial da Espressif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Otimizada para hardware ESP32 (instruções Xtensa)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Até </a:t>
            </a:r>
            <a:r>
              <a:rPr lang="pt-BR" sz="1400" b="1" dirty="0">
                <a:solidFill>
                  <a:srgbClr val="55EFC4"/>
                </a:solidFill>
              </a:rPr>
              <a:t>10x mais rápida</a:t>
            </a:r>
            <a:r>
              <a:rPr lang="pt-BR" sz="1400" dirty="0">
                <a:solidFill>
                  <a:srgbClr val="D0D0E0"/>
                </a:solidFill>
              </a:rPr>
              <a:t> que implementações genéricas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00CEC9"/>
                </a:solidFill>
              </a:rPr>
              <a:t>Módulos principais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b="1" dirty="0">
                <a:solidFill>
                  <a:srgbClr val="FDCB6E"/>
                </a:solidFill>
              </a:rPr>
              <a:t>dsps_fft2r:</a:t>
            </a:r>
            <a:r>
              <a:rPr lang="pt-BR" sz="1400" dirty="0">
                <a:solidFill>
                  <a:srgbClr val="D0D0E0"/>
                </a:solidFill>
              </a:rPr>
              <a:t> FFT radix-2 (float e fixed-point)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b="1" dirty="0">
                <a:solidFill>
                  <a:srgbClr val="FDCB6E"/>
                </a:solidFill>
              </a:rPr>
              <a:t>dsps_biquad:</a:t>
            </a:r>
            <a:r>
              <a:rPr lang="pt-BR" sz="1400" dirty="0">
                <a:solidFill>
                  <a:srgbClr val="D0D0E0"/>
                </a:solidFill>
              </a:rPr>
              <a:t> filtros IIR biquad (low/high/band-pass)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b="1" dirty="0">
                <a:solidFill>
                  <a:srgbClr val="FDCB6E"/>
                </a:solidFill>
              </a:rPr>
              <a:t>dsps_fir:</a:t>
            </a:r>
            <a:r>
              <a:rPr lang="pt-BR" sz="1400" dirty="0">
                <a:solidFill>
                  <a:srgbClr val="D0D0E0"/>
                </a:solidFill>
              </a:rPr>
              <a:t> filtros FIR otimizados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b="1" dirty="0">
                <a:solidFill>
                  <a:srgbClr val="FDCB6E"/>
                </a:solidFill>
              </a:rPr>
              <a:t>dsps_mul/add:</a:t>
            </a:r>
            <a:r>
              <a:rPr lang="pt-BR" sz="1400" dirty="0">
                <a:solidFill>
                  <a:srgbClr val="D0D0E0"/>
                </a:solidFill>
              </a:rPr>
              <a:t> operações vetoriais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FD79A8"/>
                </a:solidFill>
              </a:rPr>
              <a:t>Como usar (PlatformIO)</a:t>
            </a:r>
          </a:p>
          <a:p>
            <a:pPr marL="0" indent="0">
              <a:lnSpc>
                <a:spcPts val="1500"/>
              </a:lnSpc>
              <a:spcBef>
                <a:spcPts val="200"/>
              </a:spcBef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lib_deps = espressif/esp-dsp@^1.3.0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200" dirty="0">
                <a:solidFill>
                  <a:srgbClr val="74B9FF"/>
                </a:solidFill>
                <a:latin typeface="Consolas"/>
              </a:rPr>
              <a:t>#include "dsps_fft2r.h"</a:t>
            </a:r>
          </a:p>
        </p:txBody>
      </p:sp>
    </p:spTree>
    <p:extLst>
      <p:ext uri="{BB962C8B-B14F-4D97-AF65-F5344CB8AC3E}">
        <p14:creationId xmlns:p14="http://schemas.microsoft.com/office/powerpoint/2010/main" val="410236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56482D-2A3A-1B58-877C-DDF50CF6B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Buffers Circulares e Processamento em Blocos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19AAC9-EA86-F3A4-0EE0-591DCDD3ED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800" b="1" dirty="0">
                <a:solidFill>
                  <a:srgbClr val="6C5CE7"/>
                </a:solidFill>
              </a:rPr>
              <a:t>Buffer Circular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Estrutura FIFO com tamanho fixo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Sem cópia de memória (O(1))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Índice modular: idx % N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Ideal para filtros FIR</a:t>
            </a:r>
          </a:p>
          <a:p>
            <a:pPr marL="0" indent="0">
              <a:lnSpc>
                <a:spcPts val="1500"/>
              </a:lnSpc>
              <a:spcBef>
                <a:spcPts val="300"/>
              </a:spcBef>
              <a:buNone/>
            </a:pPr>
            <a:r>
              <a:rPr lang="pt-BR" sz="1100" dirty="0">
                <a:solidFill>
                  <a:srgbClr val="74B9FF"/>
                </a:solidFill>
                <a:latin typeface="Consolas"/>
              </a:rPr>
              <a:t>buf[head++ % N] = sample;</a:t>
            </a:r>
          </a:p>
          <a:p>
            <a:pPr marL="0" indent="0">
              <a:lnSpc>
                <a:spcPts val="1500"/>
              </a:lnSpc>
              <a:buNone/>
            </a:pPr>
            <a:r>
              <a:rPr lang="pt-BR" sz="1100" dirty="0">
                <a:solidFill>
                  <a:srgbClr val="74B9FF"/>
                </a:solidFill>
                <a:latin typeface="Consolas"/>
              </a:rPr>
              <a:t>oldest = buf[(head-N) % N];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74B9AE-4FCD-6B30-33D9-92B0C06DBD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800" b="1" dirty="0">
                <a:solidFill>
                  <a:srgbClr val="00CEC9"/>
                </a:solidFill>
              </a:rPr>
              <a:t>Processamento em Blocos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Processar N amostras de uma vez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Melhor uso do cache da CPU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Reduz overhead de chamadas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Compatível com DMA</a:t>
            </a:r>
          </a:p>
          <a:p>
            <a:pPr marL="0" indent="0">
              <a:lnSpc>
                <a:spcPts val="20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FD79A8"/>
                </a:solidFill>
              </a:rPr>
              <a:t>Double Buffering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Buffer A: DMA preenche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Buffer B: CPU processa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Alterna ao completar bloco</a:t>
            </a:r>
          </a:p>
        </p:txBody>
      </p:sp>
    </p:spTree>
    <p:extLst>
      <p:ext uri="{BB962C8B-B14F-4D97-AF65-F5344CB8AC3E}">
        <p14:creationId xmlns:p14="http://schemas.microsoft.com/office/powerpoint/2010/main" val="860867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6FA0E-74E7-34CE-E4BA-D858F7136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Float vs Fixed-Point na ESP32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FE6755-FB50-E5F5-708B-23048F2B3A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ts val="1900"/>
              </a:lnSpc>
              <a:buNone/>
            </a:pPr>
            <a:r>
              <a:rPr lang="pt-BR" sz="1800" b="1" dirty="0">
                <a:solidFill>
                  <a:srgbClr val="6C5CE7"/>
                </a:solidFill>
              </a:rPr>
              <a:t>Float (ponto flutuante)</a:t>
            </a:r>
          </a:p>
          <a:p>
            <a:pPr marL="228600" indent="-228600">
              <a:lnSpc>
                <a:spcPts val="1700"/>
              </a:lnSpc>
              <a:buFont typeface="Arial"/>
              <a:buChar char="✓"/>
            </a:pPr>
            <a:r>
              <a:rPr lang="pt-BR" sz="1400" dirty="0">
                <a:solidFill>
                  <a:srgbClr val="55EFC4"/>
                </a:solidFill>
              </a:rPr>
              <a:t>ESP32 tem FPU nativa!</a:t>
            </a:r>
          </a:p>
          <a:p>
            <a:pPr marL="228600" indent="-228600">
              <a:lnSpc>
                <a:spcPts val="1700"/>
              </a:lnSpc>
              <a:buFont typeface="Arial"/>
              <a:buChar char="✓"/>
            </a:pPr>
            <a:r>
              <a:rPr lang="pt-BR" sz="1400" dirty="0">
                <a:solidFill>
                  <a:srgbClr val="55EFC4"/>
                </a:solidFill>
              </a:rPr>
              <a:t>Fácil de programar</a:t>
            </a:r>
          </a:p>
          <a:p>
            <a:pPr marL="228600" indent="-228600">
              <a:lnSpc>
                <a:spcPts val="1700"/>
              </a:lnSpc>
              <a:buFont typeface="Arial"/>
              <a:buChar char="✓"/>
            </a:pPr>
            <a:r>
              <a:rPr lang="pt-BR" sz="1400" dirty="0">
                <a:solidFill>
                  <a:srgbClr val="55EFC4"/>
                </a:solidFill>
              </a:rPr>
              <a:t>Alta precisão</a:t>
            </a:r>
          </a:p>
          <a:p>
            <a:pPr marL="228600" indent="-228600">
              <a:lnSpc>
                <a:spcPts val="1700"/>
              </a:lnSpc>
              <a:buFont typeface="Arial"/>
              <a:buChar char="✗"/>
            </a:pPr>
            <a:r>
              <a:rPr lang="pt-BR" sz="1400" dirty="0">
                <a:solidFill>
                  <a:srgbClr val="FD79A8"/>
                </a:solidFill>
              </a:rPr>
              <a:t>Consome mais energia</a:t>
            </a:r>
          </a:p>
          <a:p>
            <a:pPr marL="228600" indent="-228600">
              <a:lnSpc>
                <a:spcPts val="1700"/>
              </a:lnSpc>
              <a:buFont typeface="Arial"/>
              <a:buChar char="✗"/>
            </a:pPr>
            <a:r>
              <a:rPr lang="pt-BR" sz="1400" dirty="0">
                <a:solidFill>
                  <a:srgbClr val="FD79A8"/>
                </a:solidFill>
              </a:rPr>
              <a:t>4 bytes por valor</a:t>
            </a:r>
          </a:p>
          <a:p>
            <a:pPr marL="0" indent="0">
              <a:lnSpc>
                <a:spcPts val="1900"/>
              </a:lnSpc>
              <a:spcBef>
                <a:spcPts val="300"/>
              </a:spcBef>
              <a:buNone/>
            </a:pPr>
            <a:r>
              <a:rPr lang="pt-BR" sz="1400" i="1" dirty="0">
                <a:solidFill>
                  <a:srgbClr val="B0B0C0"/>
                </a:solidFill>
              </a:rPr>
              <a:t>Recomendado para maioria dos casos na ESP32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7F90B6-98AB-9298-9B0F-9D0239ACA5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ts val="1900"/>
              </a:lnSpc>
              <a:buNone/>
            </a:pPr>
            <a:r>
              <a:rPr lang="pt-BR" sz="1800" b="1" dirty="0">
                <a:solidFill>
                  <a:srgbClr val="00CEC9"/>
                </a:solidFill>
              </a:rPr>
              <a:t>Fixed-Point (int16/int32)</a:t>
            </a:r>
          </a:p>
          <a:p>
            <a:pPr marL="228600" indent="-228600">
              <a:lnSpc>
                <a:spcPts val="1700"/>
              </a:lnSpc>
              <a:buFont typeface="Arial"/>
              <a:buChar char="✓"/>
            </a:pPr>
            <a:r>
              <a:rPr lang="pt-BR" sz="1400" dirty="0">
                <a:solidFill>
                  <a:srgbClr val="55EFC4"/>
                </a:solidFill>
              </a:rPr>
              <a:t>2 bytes por valor (int16)</a:t>
            </a:r>
          </a:p>
          <a:p>
            <a:pPr marL="228600" indent="-228600">
              <a:lnSpc>
                <a:spcPts val="1700"/>
              </a:lnSpc>
              <a:buFont typeface="Arial"/>
              <a:buChar char="✓"/>
            </a:pPr>
            <a:r>
              <a:rPr lang="pt-BR" sz="1400" dirty="0">
                <a:solidFill>
                  <a:srgbClr val="55EFC4"/>
                </a:solidFill>
              </a:rPr>
              <a:t>Menor consumo de energia</a:t>
            </a:r>
          </a:p>
          <a:p>
            <a:pPr marL="228600" indent="-228600">
              <a:lnSpc>
                <a:spcPts val="1700"/>
              </a:lnSpc>
              <a:buFont typeface="Arial"/>
              <a:buChar char="✓"/>
            </a:pPr>
            <a:r>
              <a:rPr lang="pt-BR" sz="1400" dirty="0">
                <a:solidFill>
                  <a:srgbClr val="55EFC4"/>
                </a:solidFill>
              </a:rPr>
              <a:t>Mais rápido em MCUs sem FPU</a:t>
            </a:r>
          </a:p>
          <a:p>
            <a:pPr marL="228600" indent="-228600">
              <a:lnSpc>
                <a:spcPts val="1700"/>
              </a:lnSpc>
              <a:buFont typeface="Arial"/>
              <a:buChar char="✗"/>
            </a:pPr>
            <a:r>
              <a:rPr lang="pt-BR" sz="1400" dirty="0">
                <a:solidFill>
                  <a:srgbClr val="FD79A8"/>
                </a:solidFill>
              </a:rPr>
              <a:t>Código mais complexo</a:t>
            </a:r>
          </a:p>
          <a:p>
            <a:pPr marL="228600" indent="-228600">
              <a:lnSpc>
                <a:spcPts val="1700"/>
              </a:lnSpc>
              <a:buFont typeface="Arial"/>
              <a:buChar char="✗"/>
            </a:pPr>
            <a:r>
              <a:rPr lang="pt-BR" sz="1400" dirty="0">
                <a:solidFill>
                  <a:srgbClr val="FD79A8"/>
                </a:solidFill>
              </a:rPr>
              <a:t>Risco de overflow</a:t>
            </a:r>
          </a:p>
          <a:p>
            <a:pPr marL="0" indent="0">
              <a:lnSpc>
                <a:spcPts val="1900"/>
              </a:lnSpc>
              <a:spcBef>
                <a:spcPts val="300"/>
              </a:spcBef>
              <a:buNone/>
            </a:pPr>
            <a:r>
              <a:rPr lang="pt-BR" sz="1400" i="1" dirty="0">
                <a:solidFill>
                  <a:srgbClr val="B0B0C0"/>
                </a:solidFill>
              </a:rPr>
              <a:t>Usar quando memória é crítica</a:t>
            </a:r>
          </a:p>
        </p:txBody>
      </p:sp>
    </p:spTree>
    <p:extLst>
      <p:ext uri="{BB962C8B-B14F-4D97-AF65-F5344CB8AC3E}">
        <p14:creationId xmlns:p14="http://schemas.microsoft.com/office/powerpoint/2010/main" val="3140024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70195-3E15-40A1-66F4-8653A3A5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Arquitetura e Pipeline de Processamento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0C32B4-1925-92E3-FCF3-F138D0BA5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6C5CE7"/>
                </a:solidFill>
              </a:rPr>
              <a:t>Pipeline completo de DSP na ESP32</a:t>
            </a:r>
          </a:p>
          <a:p>
            <a:pPr marL="0" indent="0" algn="ctr">
              <a:lnSpc>
                <a:spcPts val="22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00CEC9"/>
                </a:solidFill>
              </a:rPr>
              <a:t>Sensor → ADC → DMA → Buffer → Pré-proc → Filtro → FFT → Resultado</a:t>
            </a:r>
          </a:p>
          <a:p>
            <a:pPr marL="0" indent="0">
              <a:lnSpc>
                <a:spcPts val="2000"/>
              </a:lnSpc>
              <a:spcBef>
                <a:spcPts val="500"/>
              </a:spcBef>
              <a:buNone/>
            </a:pPr>
            <a:r>
              <a:rPr lang="pt-BR" sz="1600" b="1" dirty="0">
                <a:solidFill>
                  <a:srgbClr val="FDCB6E"/>
                </a:solidFill>
              </a:rPr>
              <a:t>Detalhamento dos estágios</a:t>
            </a:r>
          </a:p>
          <a:p>
            <a:pPr marL="228600" indent="-228600">
              <a:lnSpc>
                <a:spcPts val="1800"/>
              </a:lnSpc>
              <a:spcBef>
                <a:spcPts val="100"/>
              </a:spcBef>
              <a:buFont typeface="Arial"/>
              <a:buChar char="1."/>
            </a:pPr>
            <a:r>
              <a:rPr lang="pt-BR" sz="1400" b="1" dirty="0">
                <a:solidFill>
                  <a:srgbClr val="6C5CE7"/>
                </a:solidFill>
              </a:rPr>
              <a:t>Aquisição:</a:t>
            </a:r>
            <a:r>
              <a:rPr lang="pt-BR" sz="1400" dirty="0">
                <a:solidFill>
                  <a:srgbClr val="D0D0E0"/>
                </a:solidFill>
              </a:rPr>
              <a:t> ADC + DMA captura amostras continuamente</a:t>
            </a:r>
          </a:p>
          <a:p>
            <a:pPr marL="228600" indent="-228600">
              <a:lnSpc>
                <a:spcPts val="1800"/>
              </a:lnSpc>
              <a:buFont typeface="Arial"/>
              <a:buChar char="2."/>
            </a:pPr>
            <a:r>
              <a:rPr lang="pt-BR" sz="1400" b="1" dirty="0">
                <a:solidFill>
                  <a:srgbClr val="00CEC9"/>
                </a:solidFill>
              </a:rPr>
              <a:t>Pré-processamento:</a:t>
            </a:r>
            <a:r>
              <a:rPr lang="pt-BR" sz="1400" dirty="0">
                <a:solidFill>
                  <a:srgbClr val="D0D0E0"/>
                </a:solidFill>
              </a:rPr>
              <a:t> remoção DC + normalização</a:t>
            </a:r>
          </a:p>
          <a:p>
            <a:pPr marL="228600" indent="-228600">
              <a:lnSpc>
                <a:spcPts val="1800"/>
              </a:lnSpc>
              <a:buFont typeface="Arial"/>
              <a:buChar char="3."/>
            </a:pPr>
            <a:r>
              <a:rPr lang="pt-BR" sz="1400" b="1" dirty="0">
                <a:solidFill>
                  <a:srgbClr val="55EFC4"/>
                </a:solidFill>
              </a:rPr>
              <a:t>Filtragem:</a:t>
            </a:r>
            <a:r>
              <a:rPr lang="pt-BR" sz="1400" dirty="0">
                <a:solidFill>
                  <a:srgbClr val="D0D0E0"/>
                </a:solidFill>
              </a:rPr>
              <a:t> EMA para suavização ou biquad para banda</a:t>
            </a:r>
          </a:p>
          <a:p>
            <a:pPr marL="228600" indent="-228600">
              <a:lnSpc>
                <a:spcPts val="1800"/>
              </a:lnSpc>
              <a:buFont typeface="Arial"/>
              <a:buChar char="4."/>
            </a:pPr>
            <a:r>
              <a:rPr lang="pt-BR" sz="1400" b="1" dirty="0">
                <a:solidFill>
                  <a:srgbClr val="FD79A8"/>
                </a:solidFill>
              </a:rPr>
              <a:t>Análise:</a:t>
            </a:r>
            <a:r>
              <a:rPr lang="pt-BR" sz="1400" dirty="0">
                <a:solidFill>
                  <a:srgbClr val="D0D0E0"/>
                </a:solidFill>
              </a:rPr>
              <a:t> FFT + busca de pico + classificação</a:t>
            </a:r>
          </a:p>
          <a:p>
            <a:pPr marL="228600" indent="-228600">
              <a:lnSpc>
                <a:spcPts val="1800"/>
              </a:lnSpc>
              <a:buFont typeface="Arial"/>
              <a:buChar char="5."/>
            </a:pPr>
            <a:r>
              <a:rPr lang="pt-BR" sz="1400" b="1" dirty="0">
                <a:solidFill>
                  <a:srgbClr val="FDCB6E"/>
                </a:solidFill>
              </a:rPr>
              <a:t>Ação:</a:t>
            </a:r>
            <a:r>
              <a:rPr lang="pt-BR" sz="1400" dirty="0">
                <a:solidFill>
                  <a:srgbClr val="D0D0E0"/>
                </a:solidFill>
              </a:rPr>
              <a:t> alarme, log, transmissão MQTT/BLE</a:t>
            </a:r>
          </a:p>
        </p:txBody>
      </p:sp>
    </p:spTree>
    <p:extLst>
      <p:ext uri="{BB962C8B-B14F-4D97-AF65-F5344CB8AC3E}">
        <p14:creationId xmlns:p14="http://schemas.microsoft.com/office/powerpoint/2010/main" val="41170550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F7B02-46CF-F1EE-9EA1-A8547611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1800" dirty="0">
                <a:solidFill>
                  <a:srgbClr val="FDCB6E"/>
                </a:solidFill>
              </a:rPr>
              <a:t>06</a:t>
            </a:r>
          </a:p>
          <a:p>
            <a:pPr algn="l">
              <a:buNone/>
            </a:pPr>
            <a:r>
              <a:rPr lang="pt-BR" sz="3600" b="1" dirty="0">
                <a:solidFill>
                  <a:srgbClr val="F0F0F5"/>
                </a:solidFill>
              </a:rPr>
              <a:t>Aplicações Reais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8A7B41-E170-8997-28AF-C039675A3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pt-BR" sz="1600" dirty="0">
                <a:solidFill>
                  <a:srgbClr val="B0B0C0"/>
                </a:solidFill>
              </a:rPr>
              <a:t>Áudio, vibração, monitoramento elétrico e detecção de falhas</a:t>
            </a:r>
          </a:p>
        </p:txBody>
      </p:sp>
    </p:spTree>
    <p:extLst>
      <p:ext uri="{BB962C8B-B14F-4D97-AF65-F5344CB8AC3E}">
        <p14:creationId xmlns:p14="http://schemas.microsoft.com/office/powerpoint/2010/main" val="946388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0F91E-6A13-0888-4AF9-861EC786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Análise de Áudio e Detecção de Vibração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AF8371-F2C4-C85E-6013-BEBF043306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ts val="1900"/>
              </a:lnSpc>
              <a:buNone/>
            </a:pPr>
            <a:r>
              <a:rPr lang="pt-BR" sz="1800" b="1" dirty="0">
                <a:solidFill>
                  <a:srgbClr val="6C5CE7"/>
                </a:solidFill>
              </a:rPr>
              <a:t>Análise de Áudio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Microfone MEMS + ADC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FFT para espectro de frequência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Detecção de notas musicais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Equalizador gráfico em tempo real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Monitoramento de nível sonoro (dB)</a:t>
            </a:r>
          </a:p>
          <a:p>
            <a:pPr marL="0" indent="0">
              <a:lnSpc>
                <a:spcPts val="1900"/>
              </a:lnSpc>
              <a:spcBef>
                <a:spcPts val="300"/>
              </a:spcBef>
              <a:buNone/>
            </a:pPr>
            <a:r>
              <a:rPr lang="pt-BR" sz="1400" b="1" dirty="0">
                <a:solidFill>
                  <a:srgbClr val="FDCB6E"/>
                </a:solidFill>
              </a:rPr>
              <a:t>f</a:t>
            </a:r>
            <a:r>
              <a:rPr lang="pt-BR" sz="1100" b="1" baseline="-25000" dirty="0">
                <a:solidFill>
                  <a:srgbClr val="FDCB6E"/>
                </a:solidFill>
              </a:rPr>
              <a:t>s</a:t>
            </a:r>
            <a:r>
              <a:rPr lang="pt-BR" sz="1400" b="1" dirty="0">
                <a:solidFill>
                  <a:srgbClr val="FDCB6E"/>
                </a:solidFill>
              </a:rPr>
              <a:t> = 44.1 kHz | FFT: 1024 pts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01E8E7-C19D-A3AB-41B3-FBB1597E98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ts val="1900"/>
              </a:lnSpc>
              <a:buNone/>
            </a:pPr>
            <a:r>
              <a:rPr lang="pt-BR" sz="1800" b="1" dirty="0">
                <a:solidFill>
                  <a:srgbClr val="00CEC9"/>
                </a:solidFill>
              </a:rPr>
              <a:t>Detecção de Vibração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Acelerômetro (MPU6050/ADXL345)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Filtro passa-alta remove gravidade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FFT identifica frequência de vibração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Manutenção preditiva de máquinas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Detecção de anomalias estruturais</a:t>
            </a:r>
          </a:p>
          <a:p>
            <a:pPr marL="0" indent="0">
              <a:lnSpc>
                <a:spcPts val="1900"/>
              </a:lnSpc>
              <a:spcBef>
                <a:spcPts val="300"/>
              </a:spcBef>
              <a:buNone/>
            </a:pPr>
            <a:r>
              <a:rPr lang="pt-BR" sz="1400" b="1" dirty="0">
                <a:solidFill>
                  <a:srgbClr val="FDCB6E"/>
                </a:solidFill>
              </a:rPr>
              <a:t>f</a:t>
            </a:r>
            <a:r>
              <a:rPr lang="pt-BR" sz="1100" b="1" baseline="-25000" dirty="0">
                <a:solidFill>
                  <a:srgbClr val="FDCB6E"/>
                </a:solidFill>
              </a:rPr>
              <a:t>s</a:t>
            </a:r>
            <a:r>
              <a:rPr lang="pt-BR" sz="1400" b="1" dirty="0">
                <a:solidFill>
                  <a:srgbClr val="FDCB6E"/>
                </a:solidFill>
              </a:rPr>
              <a:t> = 1–10 kHz | FFT: 512 pts</a:t>
            </a:r>
          </a:p>
        </p:txBody>
      </p:sp>
    </p:spTree>
    <p:extLst>
      <p:ext uri="{BB962C8B-B14F-4D97-AF65-F5344CB8AC3E}">
        <p14:creationId xmlns:p14="http://schemas.microsoft.com/office/powerpoint/2010/main" val="33828060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68F9C-00A9-8C9C-CCB4-1FA97A8D2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Monitoramento Elétrico e Detecção de Falhas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5F7563-7A45-4FE3-8A35-D43CD9CDF9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ts val="1900"/>
              </a:lnSpc>
              <a:buNone/>
            </a:pPr>
            <a:r>
              <a:rPr lang="pt-BR" sz="1800" b="1" dirty="0">
                <a:solidFill>
                  <a:srgbClr val="FD79A8"/>
                </a:solidFill>
              </a:rPr>
              <a:t>Sinais Elétricos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Sensor de corrente (SCT-013)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Análise de qualidade de energia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FFT detecta harmônicas da rede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Medição de THD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Potência ativa, reativa, aparente</a:t>
            </a:r>
          </a:p>
          <a:p>
            <a:pPr marL="0" indent="0">
              <a:lnSpc>
                <a:spcPts val="1900"/>
              </a:lnSpc>
              <a:spcBef>
                <a:spcPts val="300"/>
              </a:spcBef>
              <a:buNone/>
            </a:pPr>
            <a:r>
              <a:rPr lang="pt-BR" sz="1400" b="1" dirty="0">
                <a:solidFill>
                  <a:srgbClr val="FDCB6E"/>
                </a:solidFill>
              </a:rPr>
              <a:t>Fundamental: 50/60 Hz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FCB0DF-0D44-D307-FCB7-AD70C59B67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ts val="1900"/>
              </a:lnSpc>
              <a:buNone/>
            </a:pPr>
            <a:r>
              <a:rPr lang="pt-BR" sz="1800" b="1" dirty="0">
                <a:solidFill>
                  <a:srgbClr val="55EFC4"/>
                </a:solidFill>
              </a:rPr>
              <a:t>Detecção de Falhas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Mudança no espectro = anomalia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Baseline espectral + comparação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Threshold em bandas de frequência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Alerta automático via MQTT/WiFi</a:t>
            </a:r>
          </a:p>
          <a:p>
            <a:pPr marL="0" indent="0">
              <a:lnSpc>
                <a:spcPts val="19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00CEC9"/>
                </a:solidFill>
              </a:rPr>
              <a:t>Casos de uso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Rolamentos de motores</a:t>
            </a:r>
          </a:p>
          <a:p>
            <a:pPr marL="228600" indent="-228600">
              <a:lnSpc>
                <a:spcPts val="17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Compressores industriais</a:t>
            </a:r>
          </a:p>
        </p:txBody>
      </p:sp>
    </p:spTree>
    <p:extLst>
      <p:ext uri="{BB962C8B-B14F-4D97-AF65-F5344CB8AC3E}">
        <p14:creationId xmlns:p14="http://schemas.microsoft.com/office/powerpoint/2010/main" val="2463740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34FB8-196F-45D1-2B3C-A93E9109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800" b="1" dirty="0">
                <a:solidFill>
                  <a:srgbClr val="F0F0F5"/>
                </a:solidFill>
              </a:rPr>
              <a:t>Problemas e Limitações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99629F-D7B7-AB00-709D-581756688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ts val="2000"/>
              </a:lnSpc>
              <a:buNone/>
            </a:pPr>
            <a:r>
              <a:rPr lang="pt-BR" sz="1600" b="1" dirty="0">
                <a:solidFill>
                  <a:srgbClr val="FD79A8"/>
                </a:solidFill>
              </a:rPr>
              <a:t>Aliasing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Se f</a:t>
            </a:r>
            <a:r>
              <a:rPr lang="pt-BR" sz="1100" baseline="-25000" dirty="0">
                <a:solidFill>
                  <a:srgbClr val="D0D0E0"/>
                </a:solidFill>
              </a:rPr>
              <a:t>s</a:t>
            </a:r>
            <a:r>
              <a:rPr lang="pt-BR" sz="1400" dirty="0">
                <a:solidFill>
                  <a:srgbClr val="D0D0E0"/>
                </a:solidFill>
              </a:rPr>
              <a:t> insuficiente → frequências fantasma no espectro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Solução: filtro anti-aliasing analógico antes do ADC</a:t>
            </a:r>
          </a:p>
          <a:p>
            <a:pPr marL="0" indent="0">
              <a:lnSpc>
                <a:spcPts val="2000"/>
              </a:lnSpc>
              <a:spcBef>
                <a:spcPts val="300"/>
              </a:spcBef>
              <a:buNone/>
            </a:pPr>
            <a:r>
              <a:rPr lang="pt-BR" sz="1600" b="1" dirty="0">
                <a:solidFill>
                  <a:srgbClr val="FDCB6E"/>
                </a:solidFill>
              </a:rPr>
              <a:t>Limitações do ADC ESP32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Não-linearidade intrínseca (~9-10 ENOB)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Ruído do WiFi afeta ADC2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Solução: calibração + oversampling + ADC externo (ADS1115)</a:t>
            </a:r>
          </a:p>
          <a:p>
            <a:pPr marL="0" indent="0">
              <a:lnSpc>
                <a:spcPts val="2000"/>
              </a:lnSpc>
              <a:spcBef>
                <a:spcPts val="300"/>
              </a:spcBef>
              <a:buNone/>
            </a:pPr>
            <a:r>
              <a:rPr lang="pt-BR" sz="1600" b="1" dirty="0">
                <a:solidFill>
                  <a:srgbClr val="6C5CE7"/>
                </a:solidFill>
              </a:rPr>
              <a:t>Limitações de processamento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RAM limitada: 520 KB (cuidado com buffers grandes)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FFT &gt; 4096 pontos: possível, mas consome muita memória</a:t>
            </a:r>
          </a:p>
          <a:p>
            <a:pPr marL="228600" indent="-228600">
              <a:lnSpc>
                <a:spcPts val="1800"/>
              </a:lnSpc>
              <a:buFont typeface="Arial"/>
              <a:buChar char="•"/>
            </a:pPr>
            <a:r>
              <a:rPr lang="pt-BR" sz="1400" dirty="0">
                <a:solidFill>
                  <a:srgbClr val="D0D0E0"/>
                </a:solidFill>
              </a:rPr>
              <a:t>Sem FPU de precisão dupla → preferir float (32 bits)</a:t>
            </a:r>
          </a:p>
        </p:txBody>
      </p:sp>
    </p:spTree>
    <p:extLst>
      <p:ext uri="{BB962C8B-B14F-4D97-AF65-F5344CB8AC3E}">
        <p14:creationId xmlns:p14="http://schemas.microsoft.com/office/powerpoint/2010/main" val="36393292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E01CC-C89A-3899-FFB4-1BA55FB927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F0F0F5"/>
                </a:solidFill>
              </a:rPr>
              <a:t>Resumo e Próximos Passos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D2FD9F-8C9A-80D8-D856-F446D706DD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lnSpc>
                <a:spcPts val="2400"/>
              </a:lnSpc>
              <a:buNone/>
            </a:pPr>
            <a:r>
              <a:rPr lang="pt-BR" sz="1600" dirty="0">
                <a:solidFill>
                  <a:srgbClr val="D0D0E0"/>
                </a:solidFill>
              </a:rPr>
              <a:t>DSP na ESP32: de sinais analógicos a insights digitais</a:t>
            </a:r>
          </a:p>
          <a:p>
            <a:pPr algn="ctr">
              <a:lnSpc>
                <a:spcPts val="2400"/>
              </a:lnSpc>
              <a:buNone/>
            </a:pPr>
            <a:r>
              <a:rPr lang="pt-BR" sz="1400" dirty="0">
                <a:solidFill>
                  <a:srgbClr val="B0B0C0"/>
                </a:solidFill>
              </a:rPr>
              <a:t>Fundamentos → Filtros → FFT → Aplicações</a:t>
            </a:r>
          </a:p>
          <a:p>
            <a:pPr algn="ctr">
              <a:lnSpc>
                <a:spcPts val="2400"/>
              </a:lnSpc>
              <a:spcBef>
                <a:spcPts val="400"/>
              </a:spcBef>
              <a:buNone/>
            </a:pPr>
            <a:r>
              <a:rPr lang="pt-BR" sz="1600" b="1" dirty="0">
                <a:solidFill>
                  <a:srgbClr val="6C5CE7"/>
                </a:solidFill>
              </a:rPr>
              <a:t>Aula 09 — Processamento Digital de Sinais</a:t>
            </a:r>
          </a:p>
        </p:txBody>
      </p:sp>
    </p:spTree>
    <p:extLst>
      <p:ext uri="{BB962C8B-B14F-4D97-AF65-F5344CB8AC3E}">
        <p14:creationId xmlns:p14="http://schemas.microsoft.com/office/powerpoint/2010/main" val="25586849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5514118698]">
  <a:themeElements>
    <a:clrScheme name="ESP32 DSP Dark">
      <a:dk1>
        <a:srgbClr val="F0F0F5"/>
      </a:dk1>
      <a:lt1>
        <a:srgbClr val="0D0D12"/>
      </a:lt1>
      <a:dk2>
        <a:srgbClr val="B0B0C0"/>
      </a:dk2>
      <a:lt2>
        <a:srgbClr val="1A1A24"/>
      </a:lt2>
      <a:accent1>
        <a:srgbClr val="6C5CE7"/>
      </a:accent1>
      <a:accent2>
        <a:srgbClr val="00CEC9"/>
      </a:accent2>
      <a:accent3>
        <a:srgbClr val="FD79A8"/>
      </a:accent3>
      <a:accent4>
        <a:srgbClr val="FDCB6E"/>
      </a:accent4>
      <a:accent5>
        <a:srgbClr val="55EFC4"/>
      </a:accent5>
      <a:accent6>
        <a:srgbClr val="74B9FF"/>
      </a:accent6>
      <a:hlink>
        <a:srgbClr val="467886"/>
      </a:hlink>
      <a:folHlink>
        <a:srgbClr val="96607D"/>
      </a:folHlink>
    </a:clrScheme>
    <a:fontScheme name="ESP32 DSP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E4D88B-E0A0-43B1-AF24-8ACFAB4DA35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22c7de7-7121-496d-8d9e-f24ed4add73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2113</TotalTime>
  <Words>2400</Words>
  <Application>Microsoft Office PowerPoint</Application>
  <PresentationFormat>Widescreen</PresentationFormat>
  <Paragraphs>378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9" baseType="lpstr">
      <vt:lpstr>Arial</vt:lpstr>
      <vt:lpstr>Consolas</vt:lpstr>
      <vt:lpstr>Segoe UI</vt:lpstr>
      <vt:lpstr>Tema do Office [1775514118698]</vt:lpstr>
      <vt:lpstr>Processamento Digital de Sinais DSP na ESP32</vt:lpstr>
      <vt:lpstr>Agenda</vt:lpstr>
      <vt:lpstr>01 Fundamentos de DSP</vt:lpstr>
      <vt:lpstr>O que é Processamento Digital de Sinais?</vt:lpstr>
      <vt:lpstr>Sinal Analógico vs Sinal Digital</vt:lpstr>
      <vt:lpstr>Amostragem e Teorema de Nyquist</vt:lpstr>
      <vt:lpstr>Quantização e Resolução</vt:lpstr>
      <vt:lpstr>02 Aquisição de Sinais na ESP32</vt:lpstr>
      <vt:lpstr>ADC da ESP32 — Revisão</vt:lpstr>
      <vt:lpstr>DMA e Aquisição Contínua</vt:lpstr>
      <vt:lpstr>Domínio do Tempo vs Frequência</vt:lpstr>
      <vt:lpstr>Ruído e Pré-processamento</vt:lpstr>
      <vt:lpstr>03 Filtros Digitais</vt:lpstr>
      <vt:lpstr>Filtro FIR — Finite Impulse Response</vt:lpstr>
      <vt:lpstr>Filtro IIR — Infinite Impulse Response</vt:lpstr>
      <vt:lpstr>FIR vs IIR — Comparação</vt:lpstr>
      <vt:lpstr>Filtro de Média Móvel</vt:lpstr>
      <vt:lpstr>Filtro Exponencial (EMA)</vt:lpstr>
      <vt:lpstr>Comparação: Média Móvel vs Exponencial</vt:lpstr>
      <vt:lpstr>04 Transformada de Fourier e FFT</vt:lpstr>
      <vt:lpstr>Transformada de Fourier — Conceito Intuitivo</vt:lpstr>
      <vt:lpstr>FFT — Fast Fourier Transform</vt:lpstr>
      <vt:lpstr>Interpretação do Espectro FFT</vt:lpstr>
      <vt:lpstr>FFT na ESP32 — Código (arduinoFFT)</vt:lpstr>
      <vt:lpstr>Identificação de Frequência Dominante</vt:lpstr>
      <vt:lpstr>05 Otimização de DSP na ESP32</vt:lpstr>
      <vt:lpstr>Biblioteca ESP-DSP</vt:lpstr>
      <vt:lpstr>Buffers Circulares e Processamento em Blocos</vt:lpstr>
      <vt:lpstr>Float vs Fixed-Point na ESP32</vt:lpstr>
      <vt:lpstr>Arquitetura e Pipeline de Processamento</vt:lpstr>
      <vt:lpstr>06 Aplicações Reais</vt:lpstr>
      <vt:lpstr>Análise de Áudio e Detecção de Vibração</vt:lpstr>
      <vt:lpstr>Monitoramento Elétrico e Detecção de Falhas</vt:lpstr>
      <vt:lpstr>Problemas e Limitações</vt:lpstr>
      <vt:lpstr>Resumo e Próximos Passos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Morais</dc:creator>
  <cp:lastModifiedBy>Josué Morais</cp:lastModifiedBy>
  <cp:revision>1</cp:revision>
  <dcterms:created xsi:type="dcterms:W3CDTF">2026-04-06T22:20:13Z</dcterms:created>
  <dcterms:modified xsi:type="dcterms:W3CDTF">2026-04-08T09:34:09Z</dcterms:modified>
</cp:coreProperties>
</file>